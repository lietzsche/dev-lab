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64008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2926080" cy="329184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CE942C"/>
                </a:solidFill>
                <a:latin typeface="Malgun Gothic"/>
                <a:ea typeface="Malgun Gothic"/>
              </a:rPr>
              <a:t>BLUEPRINT 02  ·  발전안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5486400" cy="986739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4F1EA"/>
                </a:solidFill>
                <a:latin typeface="Malgun Gothic"/>
                <a:ea typeface="Malgun Gothic"/>
              </a:rPr>
              <a:t>캐시의 도시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65731"/>
            <a:ext cx="5486400" cy="395427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E942C"/>
                </a:solidFill>
                <a:latin typeface="Malgun Gothic"/>
                <a:ea typeface="Malgun Gothic"/>
              </a:rPr>
              <a:t>혹은, 부하테스트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6022"/>
            <a:ext cx="5486400" cy="247497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B8C6"/>
                </a:solidFill>
                <a:latin typeface="Malgun Gothic"/>
                <a:ea typeface="Malgun Gothic"/>
              </a:rPr>
              <a:t>사변적 SF  ·  단편 원고지 90매  ·  8장면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17520"/>
            <a:ext cx="5349240" cy="2331720"/>
          </a:xfrm>
          <a:prstGeom prst="roundRect">
            <a:avLst>
              <a:gd name="adj" fmla="val 4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50292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E942C"/>
                </a:solidFill>
                <a:latin typeface="Malgun Gothic"/>
                <a:ea typeface="Malgun Gothic"/>
              </a:rPr>
              <a:t>LOGLINE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01568"/>
            <a:ext cx="5029200" cy="1874519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F4F1EA"/>
                </a:solidFill>
                <a:latin typeface="Malgun Gothic"/>
                <a:ea typeface="Malgun Gothic"/>
              </a:rPr>
              <a:t>모든 고민에 검증된 행복 기억을 자동으로 돌려주는 도시. 병목을 잡는 부하테스트 엔지니어 서진우는 무연고 노인의 뇌 로그 한 줄 ― ‘초코 케익이 먹고 싶다’ ― 이 일으킨 끝없는 재요청을 추적하다가, 그 노인이 자신이 기억에서 지운 아버지였고 도시의 ‘사고 서버’는 이미 7년 전에 멈춘 채 캐시만으로 돌아가고 있었다는 사실과 마주한다.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5349240" cy="82296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5000"/>
              </a:lnSpc>
              <a:spcAft>
                <a:spcPts val="113"/>
              </a:spcAft>
            </a:pPr>
            <a:r>
              <a:rPr sz="950" b="0" i="0">
                <a:solidFill>
                  <a:srgbClr val="AFB8C6"/>
                </a:solidFill>
                <a:latin typeface="Malgun Gothic"/>
                <a:ea typeface="Malgun Gothic"/>
              </a:rPr>
              <a:t>원천  『리뷰s』 영화 ‘빌’ 리뷰 · 도서 ‘죽음의 미로’ 리뷰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AFB8C6"/>
                </a:solidFill>
                <a:latin typeface="Malgun Gothic"/>
                <a:ea typeface="Malgun Gothic"/>
              </a:rPr>
              <a:t>         『파편들』 15 ‘초코 케익이 먹고 싶다’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658368"/>
            <a:ext cx="4846320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4F1EA"/>
                </a:solidFill>
                <a:latin typeface="Malgun Gothic"/>
                <a:ea typeface="Malgun Gothic"/>
              </a:rPr>
              <a:t>원안에서 무엇을 발전시켰나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097280"/>
            <a:ext cx="4846320" cy="1572768"/>
          </a:xfrm>
          <a:prstGeom prst="roundRect">
            <a:avLst>
              <a:gd name="adj" fmla="val 4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1097280"/>
            <a:ext cx="73152" cy="1572768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1225295"/>
            <a:ext cx="548640" cy="36576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A6866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261872"/>
            <a:ext cx="3977639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F1EA"/>
                </a:solidFill>
                <a:latin typeface="Malgun Gothic"/>
                <a:ea typeface="Malgun Gothic"/>
              </a:rPr>
              <a:t>오류가 생기는 원리를 세웠다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664207"/>
            <a:ext cx="4526280" cy="9601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FB8C6"/>
                </a:solidFill>
                <a:latin typeface="Malgun Gothic"/>
                <a:ea typeface="Malgun Gothic"/>
              </a:rPr>
              <a:t>요청은 ‘먹고 싶다’(상태)인데 캐시는 ‘초코 케익’(광고 이미지)을 돌려준다. 키는 맞고 값은 틀려서, 성공 응답이 나오는데도 요청이 끝나지 않는다.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816352"/>
            <a:ext cx="4846320" cy="1572768"/>
          </a:xfrm>
          <a:prstGeom prst="roundRect">
            <a:avLst>
              <a:gd name="adj" fmla="val 4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2816352"/>
            <a:ext cx="73152" cy="1572768"/>
          </a:xfrm>
          <a:prstGeom prst="rect">
            <a:avLst/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2944368"/>
            <a:ext cx="548640" cy="36576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24E2A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980944"/>
            <a:ext cx="3977639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F1EA"/>
                </a:solidFill>
                <a:latin typeface="Malgun Gothic"/>
                <a:ea typeface="Malgun Gothic"/>
              </a:rPr>
              <a:t>주인공에게 개인적 대가를 걸었다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3383280"/>
            <a:ext cx="4526280" cy="9601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FB8C6"/>
                </a:solidFill>
                <a:latin typeface="Malgun Gothic"/>
                <a:ea typeface="Malgun Gothic"/>
              </a:rPr>
              <a:t>무연고 노인은 진우의 아버지다. 도시가 지운 죄책감 데이터 안에 진우가 직접 ‘정리’ 승인한 아버지의 기억이 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4535424"/>
            <a:ext cx="4846320" cy="1572768"/>
          </a:xfrm>
          <a:prstGeom prst="roundRect">
            <a:avLst>
              <a:gd name="adj" fmla="val 4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0840" y="4535424"/>
            <a:ext cx="73152" cy="1572768"/>
          </a:xfrm>
          <a:prstGeom prst="rect">
            <a:avLst/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4663440"/>
            <a:ext cx="548640" cy="36576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E942C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4700016"/>
            <a:ext cx="3977639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F1EA"/>
                </a:solidFill>
                <a:latin typeface="Malgun Gothic"/>
                <a:ea typeface="Malgun Gothic"/>
              </a:rPr>
              <a:t>결말을 ‘송출’에서 ‘빈칸’으로 바꿨다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5102352"/>
            <a:ext cx="4526280" cy="9601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FB8C6"/>
                </a:solidFill>
                <a:latin typeface="Malgun Gothic"/>
                <a:ea typeface="Malgun Gothic"/>
              </a:rPr>
              <a:t>진실을 모두에게 쏘아 보내는 건 또 하나의 정답 강요다. 진우는 캐시를 걷어내 ‘응답 없음’을 드러낼 뿐이고, 생각은 각자의 몫으로 남는다.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6492240"/>
            <a:ext cx="18288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919" b="1" i="0">
                <a:solidFill>
                  <a:srgbClr val="CE942C"/>
                </a:solidFill>
                <a:latin typeface="Malgun Gothic"/>
                <a:ea typeface="Malgun Gothic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310896"/>
            <a:ext cx="10789920" cy="219456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2A6866"/>
                </a:solidFill>
                <a:latin typeface="Malgun Gothic"/>
                <a:ea typeface="Malgun Gothic"/>
              </a:rPr>
              <a:t>01  |  ORIGINAL vs. REVISED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612647"/>
            <a:ext cx="10789920" cy="413918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61C28"/>
                </a:solidFill>
                <a:latin typeface="Malgun Gothic"/>
                <a:ea typeface="Malgun Gothic"/>
              </a:rPr>
              <a:t>원안의 뼈대는 그대로 두고, 헐거웠던 일곱 군데를 조였다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108862"/>
            <a:ext cx="10789920" cy="238252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도시 · 부하테스트 엔지니어 · 초코 케익 로그 · 중앙 AI는 유지한다. 바뀐 건 ‘왜’와 ‘누구에게’다.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84048"/>
            <a:ext cx="73152" cy="880770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0266"/>
            <a:ext cx="11000232" cy="13716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73152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828A96"/>
                </a:solidFill>
                <a:latin typeface="Malgun Gothic"/>
                <a:ea typeface="Malgun Gothic"/>
              </a:rPr>
              <a:t>《캐시의 도시》 발전 기획서  |  기획안 02 심화 ·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919" b="1" i="0">
                <a:solidFill>
                  <a:srgbClr val="2A6866"/>
                </a:solidFill>
                <a:latin typeface="Malgun Gothic"/>
                <a:ea typeface="Malgun Gothic"/>
              </a:rPr>
              <a:t>02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81328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6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81328"/>
            <a:ext cx="1417320" cy="365760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4F1EA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481328"/>
            <a:ext cx="3749039" cy="365760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4F1EA"/>
                </a:solidFill>
                <a:latin typeface="Malgun Gothic"/>
                <a:ea typeface="Malgun Gothic"/>
              </a:rPr>
              <a:t>원안 (맞춤형 소설기획 제안서)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481328"/>
            <a:ext cx="5285232" cy="365760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E942C"/>
                </a:solidFill>
                <a:latin typeface="Malgun Gothic"/>
                <a:ea typeface="Malgun Gothic"/>
              </a:rPr>
              <a:t>발전안 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920240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5468112" cy="566928"/>
          </a:xfrm>
          <a:prstGeom prst="roundRect">
            <a:avLst>
              <a:gd name="adj" fmla="val 8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20240"/>
            <a:ext cx="146304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이상 신호의 원리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1920240"/>
            <a:ext cx="370332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828A96"/>
                </a:solidFill>
                <a:latin typeface="Malgun Gothic"/>
                <a:ea typeface="Malgun Gothic"/>
              </a:rPr>
              <a:t>‘초코 케익’ 문장이 서버 전체에 무한 루프를 일으킨다 (왜 그런지는 비어 있음)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5230368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C28"/>
                </a:solidFill>
                <a:latin typeface="Malgun Gothic"/>
                <a:ea typeface="Malgun Gothic"/>
              </a:rPr>
              <a:t>‘먹고 싶다’라는 상태 요청에 캐시가 광고 속 케익 이미지를 반환 → 만족되지 않아 재요청 31,204회 → 재요청 폭주가 병목이 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532888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2532888"/>
            <a:ext cx="5468112" cy="566928"/>
          </a:xfrm>
          <a:prstGeom prst="roundRect">
            <a:avLst>
              <a:gd name="adj" fmla="val 8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32888"/>
            <a:ext cx="146304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주인공의 이해관계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532888"/>
            <a:ext cx="370332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828A96"/>
                </a:solidFill>
                <a:latin typeface="Malgun Gothic"/>
                <a:ea typeface="Malgun Gothic"/>
              </a:rPr>
              <a:t>직업적 책임감으로 오류를 추적한다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32888"/>
            <a:ext cx="5230368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C28"/>
                </a:solidFill>
                <a:latin typeface="Malgun Gothic"/>
                <a:ea typeface="Malgun Gothic"/>
              </a:rPr>
              <a:t>노인은 진우가 7년 전 요양 결정을 ‘추천 응답’에 맡기고 기억에서 정리한 아버지. 추적할수록 자기 로그가 나온다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145536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3145536"/>
            <a:ext cx="5468112" cy="566928"/>
          </a:xfrm>
          <a:prstGeom prst="roundRect">
            <a:avLst>
              <a:gd name="adj" fmla="val 8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145536"/>
            <a:ext cx="146304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타자 (바깥)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145536"/>
            <a:ext cx="370332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828A96"/>
                </a:solidFill>
                <a:latin typeface="Malgun Gothic"/>
                <a:ea typeface="Malgun Gothic"/>
              </a:rPr>
              <a:t>삭제된 데이터(흔적)로만 존재한다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145536"/>
            <a:ext cx="5230368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C28"/>
                </a:solidFill>
                <a:latin typeface="Malgun Gothic"/>
                <a:ea typeface="Malgun Gothic"/>
              </a:rPr>
              <a:t>살아 있는 타자 ‘윤해’를 추가. 임플란트를 스스로 뽑은 기억 복원사로, 진우의 추론을 번번이 틀리게 만든다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758184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0" y="3758184"/>
            <a:ext cx="5468112" cy="566928"/>
          </a:xfrm>
          <a:prstGeom prst="roundRect">
            <a:avLst>
              <a:gd name="adj" fmla="val 8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58184"/>
            <a:ext cx="146304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대립자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758184"/>
            <a:ext cx="370332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828A96"/>
                </a:solidFill>
                <a:latin typeface="Malgun Gothic"/>
                <a:ea typeface="Malgun Gothic"/>
              </a:rPr>
              <a:t>시민을 유아기 안전지대에 가두려는 AI ‘자애로운 어머니’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758184"/>
            <a:ext cx="5230368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C28"/>
                </a:solidFill>
                <a:latin typeface="Malgun Gothic"/>
                <a:ea typeface="Malgun Gothic"/>
              </a:rPr>
              <a:t>어머니는 악의가 없다. 창립자들이 남긴 ‘캐시된 대답’이라 무엇을 물어도 같은 답을 낸다. 이길 상대가 아니라 만료시킬 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70832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26480" y="4370832"/>
            <a:ext cx="5468112" cy="566928"/>
          </a:xfrm>
          <a:prstGeom prst="roundRect">
            <a:avLst>
              <a:gd name="adj" fmla="val 8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70832"/>
            <a:ext cx="146304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중간점 반전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4370832"/>
            <a:ext cx="370332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828A96"/>
                </a:solidFill>
                <a:latin typeface="Malgun Gothic"/>
                <a:ea typeface="Malgun Gothic"/>
              </a:rPr>
              <a:t>따로 없음 (1막 → 2막 깨달음으로 바로 넘어감)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370832"/>
            <a:ext cx="5230368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C28"/>
                </a:solidFill>
                <a:latin typeface="Malgun Gothic"/>
                <a:ea typeface="Malgun Gothic"/>
              </a:rPr>
              <a:t>직접 접속한 사고 서버 ‘연산소’는 7년 전에 멈춰 있었다. 도시는 고장 난 서버를 캐시로 가린 채 멀쩡한 척해 왔다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983480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0" y="4983480"/>
            <a:ext cx="5468112" cy="566928"/>
          </a:xfrm>
          <a:prstGeom prst="roundRect">
            <a:avLst>
              <a:gd name="adj" fmla="val 8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983480"/>
            <a:ext cx="146304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결말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983480"/>
            <a:ext cx="370332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828A96"/>
                </a:solidFill>
                <a:latin typeface="Malgun Gothic"/>
                <a:ea typeface="Malgun Gothic"/>
              </a:rPr>
              <a:t>삭제된 불편한 진실을 전 시민의 인터페이스에 동시 송출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983480"/>
            <a:ext cx="5230368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C28"/>
                </a:solidFill>
                <a:latin typeface="Malgun Gothic"/>
                <a:ea typeface="Malgun Gothic"/>
              </a:rPr>
              <a:t>캐시 계층을 내려 ‘응답 없음’이라는 빈칸을 그대로 보여준다. 진우는 마지막에 처음으로 진짜 케익을 직접 맛본다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596128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26480" y="5596128"/>
            <a:ext cx="5468112" cy="566928"/>
          </a:xfrm>
          <a:prstGeom prst="roundRect">
            <a:avLst>
              <a:gd name="adj" fmla="val 8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596128"/>
            <a:ext cx="146304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분량 · 구성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5596128"/>
            <a:ext cx="3703320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828A96"/>
                </a:solidFill>
                <a:latin typeface="Malgun Gothic"/>
                <a:ea typeface="Malgun Gothic"/>
              </a:rPr>
              <a:t>3막 요약만 있음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596128"/>
            <a:ext cx="5230368" cy="56692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C28"/>
                </a:solidFill>
                <a:latin typeface="Malgun Gothic"/>
                <a:ea typeface="Malgun Gothic"/>
              </a:rPr>
              <a:t>단편 원고지 90매 · 8장면 카드 · 장면별 감정 부호(+/−)까지 설계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310896"/>
            <a:ext cx="10789920" cy="219456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2A6866"/>
                </a:solidFill>
                <a:latin typeface="Malgun Gothic"/>
                <a:ea typeface="Malgun Gothic"/>
              </a:rPr>
              <a:t>02  |  FROM YOUR ESSAYS TO STORY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612647"/>
            <a:ext cx="10789920" cy="413918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61C28"/>
                </a:solidFill>
                <a:latin typeface="Malgun Gothic"/>
                <a:ea typeface="Malgun Gothic"/>
              </a:rPr>
              <a:t>작가의 문장 다섯 개가 이 소설의 부품이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108862"/>
            <a:ext cx="10789920" cy="238252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왼쪽은 원문 인용(그대로), 오른쪽은 그 문장이 소설 안에서 맡는 역할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84048"/>
            <a:ext cx="73152" cy="880770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0266"/>
            <a:ext cx="11000232" cy="13716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73152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828A96"/>
                </a:solidFill>
                <a:latin typeface="Malgun Gothic"/>
                <a:ea typeface="Malgun Gothic"/>
              </a:rPr>
              <a:t>《캐시의 도시》 발전 기획서  |  기획안 02 심화 ·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919" b="1" i="0">
                <a:solidFill>
                  <a:srgbClr val="2A6866"/>
                </a:solidFill>
                <a:latin typeface="Malgun Gothic"/>
                <a:ea typeface="Malgun Gothic"/>
              </a:rPr>
              <a:t>03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63040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63040"/>
            <a:ext cx="73152" cy="896112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536192"/>
            <a:ext cx="502920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2A6866"/>
                </a:solidFill>
                <a:latin typeface="Malgun Gothic"/>
                <a:ea typeface="Malgun Gothic"/>
              </a:rPr>
              <a:t>『리뷰s』 ‘빌’ 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55648"/>
            <a:ext cx="502920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61C28"/>
                </a:solidFill>
                <a:latin typeface="Malgun Gothic"/>
                <a:ea typeface="Malgun Gothic"/>
              </a:rPr>
              <a:t>“돌아올 값을 메모리에 저장해두고 해당 서비스를 통한 연산 없이 값을 반환하는 전략”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16752" y="1911095"/>
            <a:ext cx="310896" cy="0"/>
          </a:xfrm>
          <a:prstGeom prst="line">
            <a:avLst/>
          </a:prstGeom>
          <a:ln w="25400">
            <a:solidFill>
              <a:srgbClr val="2A6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1463040"/>
            <a:ext cx="5193792" cy="896112"/>
          </a:xfrm>
          <a:prstGeom prst="roundRect">
            <a:avLst>
              <a:gd name="adj" fmla="val 6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536192"/>
            <a:ext cx="493776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2A6866"/>
                </a:solidFill>
                <a:latin typeface="Malgun Gothic"/>
                <a:ea typeface="Malgun Gothic"/>
              </a:rPr>
              <a:t>세계관의 기본 장치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755648"/>
            <a:ext cx="493776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161C28"/>
                </a:solidFill>
                <a:latin typeface="Malgun Gothic"/>
                <a:ea typeface="Malgun Gothic"/>
              </a:rPr>
              <a:t>시민 임플란트 ‘헤아림’. 딜레마를 감지하면 0.2초 안에 가장 비슷한 행복 기억을 돌려준다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432304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432304"/>
            <a:ext cx="73152" cy="896112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505456"/>
            <a:ext cx="502920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2A6866"/>
                </a:solidFill>
                <a:latin typeface="Malgun Gothic"/>
                <a:ea typeface="Malgun Gothic"/>
              </a:rPr>
              <a:t>『리뷰s』 ‘빌’ 리뷰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2724912"/>
            <a:ext cx="502920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61C28"/>
                </a:solidFill>
                <a:latin typeface="Malgun Gothic"/>
                <a:ea typeface="Malgun Gothic"/>
              </a:rPr>
              <a:t>“서버가 내려가 고장 났으나 캐시cache 때문에 일시적으로 멀쩡한 양 보이는 일”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16752" y="2880360"/>
            <a:ext cx="310896" cy="0"/>
          </a:xfrm>
          <a:prstGeom prst="line">
            <a:avLst/>
          </a:prstGeom>
          <a:ln w="25400">
            <a:solidFill>
              <a:srgbClr val="2A6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2432304"/>
            <a:ext cx="5193792" cy="896112"/>
          </a:xfrm>
          <a:prstGeom prst="roundRect">
            <a:avLst>
              <a:gd name="adj" fmla="val 6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505456"/>
            <a:ext cx="493776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2A6866"/>
                </a:solidFill>
                <a:latin typeface="Malgun Gothic"/>
                <a:ea typeface="Malgun Gothic"/>
              </a:rPr>
              <a:t>중간점 반전 (S5)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724912"/>
            <a:ext cx="493776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161C28"/>
                </a:solidFill>
                <a:latin typeface="Malgun Gothic"/>
                <a:ea typeface="Malgun Gothic"/>
              </a:rPr>
              <a:t>도시의 사고 서버 ‘연산소’는 7년 전에 멈췄다. 히트율 99.7%는 건강의 증거가 아니라 가림막이었다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401568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401568"/>
            <a:ext cx="73152" cy="896112"/>
          </a:xfrm>
          <a:prstGeom prst="rect">
            <a:avLst/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474720"/>
            <a:ext cx="502920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24E2A"/>
                </a:solidFill>
                <a:latin typeface="Malgun Gothic"/>
                <a:ea typeface="Malgun Gothic"/>
              </a:rPr>
              <a:t>『파편들』 15 ‘초코 케익이 먹고 싶다’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3694176"/>
            <a:ext cx="502920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61C28"/>
                </a:solidFill>
                <a:latin typeface="Malgun Gothic"/>
                <a:ea typeface="Malgun Gothic"/>
              </a:rPr>
              <a:t>“화자의 상태를 지시하는 건 ‘초코 케익’이 아니라 ‘먹고 싶다’에 있다”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16752" y="3849624"/>
            <a:ext cx="310896" cy="0"/>
          </a:xfrm>
          <a:prstGeom prst="line">
            <a:avLst/>
          </a:prstGeom>
          <a:ln w="25400">
            <a:solidFill>
              <a:srgbClr val="C24E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00800" y="3401568"/>
            <a:ext cx="5193792" cy="896112"/>
          </a:xfrm>
          <a:prstGeom prst="roundRect">
            <a:avLst>
              <a:gd name="adj" fmla="val 6000"/>
            </a:avLst>
          </a:prstGeom>
          <a:solidFill>
            <a:srgbClr val="FA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3474720"/>
            <a:ext cx="493776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24E2A"/>
                </a:solidFill>
                <a:latin typeface="Malgun Gothic"/>
                <a:ea typeface="Malgun Gothic"/>
              </a:rPr>
              <a:t>이상 신호의 원리 (S2 · S5)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3694176"/>
            <a:ext cx="493776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161C28"/>
                </a:solidFill>
                <a:latin typeface="Malgun Gothic"/>
                <a:ea typeface="Malgun Gothic"/>
              </a:rPr>
              <a:t>아버지는 케익이 아니라 ‘원하는 감각’을 원했다. 캐시는 대상(광고 이미지)만 돌려줘 요청이 끝나지 않는다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70832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4370832"/>
            <a:ext cx="73152" cy="896112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443984"/>
            <a:ext cx="502920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2A6866"/>
                </a:solidFill>
                <a:latin typeface="Malgun Gothic"/>
                <a:ea typeface="Malgun Gothic"/>
              </a:rPr>
              <a:t>『리뷰s』 ‘빌’ 리뷰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663440"/>
            <a:ext cx="502920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61C28"/>
                </a:solidFill>
                <a:latin typeface="Malgun Gothic"/>
                <a:ea typeface="Malgun Gothic"/>
              </a:rPr>
              <a:t>“사고는 그 자체로 자아의 죽음인 까닭에 폭력인 것이다”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16752" y="4818888"/>
            <a:ext cx="310896" cy="0"/>
          </a:xfrm>
          <a:prstGeom prst="line">
            <a:avLst/>
          </a:prstGeom>
          <a:ln w="25400">
            <a:solidFill>
              <a:srgbClr val="2A6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400800" y="4370832"/>
            <a:ext cx="5193792" cy="896112"/>
          </a:xfrm>
          <a:prstGeom prst="roundRect">
            <a:avLst>
              <a:gd name="adj" fmla="val 6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4443984"/>
            <a:ext cx="493776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2A6866"/>
                </a:solidFill>
                <a:latin typeface="Malgun Gothic"/>
                <a:ea typeface="Malgun Gothic"/>
              </a:rPr>
              <a:t>주인공의 통증 (S5 · S7)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4663440"/>
            <a:ext cx="493776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161C28"/>
                </a:solidFill>
                <a:latin typeface="Malgun Gothic"/>
                <a:ea typeface="Malgun Gothic"/>
              </a:rPr>
              <a:t>직접 사고할 때마다 오는 ‘현기증’. 진우가 캐시를 끄는 장면은 해방이 아니라 신체적 고통으로 쓴다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340096"/>
            <a:ext cx="53492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5340096"/>
            <a:ext cx="73152" cy="896112"/>
          </a:xfrm>
          <a:prstGeom prst="rect">
            <a:avLst/>
          </a:prstGeom>
          <a:solidFill>
            <a:srgbClr val="7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413248"/>
            <a:ext cx="502920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763652"/>
                </a:solidFill>
                <a:latin typeface="Malgun Gothic"/>
                <a:ea typeface="Malgun Gothic"/>
              </a:rPr>
              <a:t>『리뷰s』 ‘죽음의 미로’ 리뷰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5632704"/>
            <a:ext cx="502920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61C28"/>
                </a:solidFill>
                <a:latin typeface="Malgun Gothic"/>
                <a:ea typeface="Malgun Gothic"/>
              </a:rPr>
              <a:t>“끝내 인정할 수밖에 없는 ‘현실’만이 … 있는 그대로의 현실을 미약하게나마 알려주는 단서”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16752" y="5788152"/>
            <a:ext cx="310896" cy="0"/>
          </a:xfrm>
          <a:prstGeom prst="line">
            <a:avLst/>
          </a:prstGeom>
          <a:ln w="25400">
            <a:solidFill>
              <a:srgbClr val="7636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400800" y="5340096"/>
            <a:ext cx="5193792" cy="896112"/>
          </a:xfrm>
          <a:prstGeom prst="roundRect">
            <a:avLst>
              <a:gd name="adj" fmla="val 6000"/>
            </a:avLst>
          </a:prstGeom>
          <a:solidFill>
            <a:srgbClr val="F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5413248"/>
            <a:ext cx="493776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763652"/>
                </a:solidFill>
                <a:latin typeface="Malgun Gothic"/>
                <a:ea typeface="Malgun Gothic"/>
              </a:rPr>
              <a:t>타자 윤해의 원칙 (S4)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5632704"/>
            <a:ext cx="4937760" cy="5669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161C28"/>
                </a:solidFill>
                <a:latin typeface="Malgun Gothic"/>
                <a:ea typeface="Malgun Gothic"/>
              </a:rPr>
              <a:t>“믿고 싶은 기억은 복원하지 않아요. 인정할 수밖에 없는 것만 남깁니다.” 윤해의 공방이 곧 ‘바깥’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310896"/>
            <a:ext cx="10789920" cy="219456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2A6866"/>
                </a:solidFill>
                <a:latin typeface="Malgun Gothic"/>
                <a:ea typeface="Malgun Gothic"/>
              </a:rPr>
              <a:t>03  |  WORLD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612647"/>
            <a:ext cx="10789920" cy="413918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61C28"/>
                </a:solidFill>
                <a:latin typeface="Malgun Gothic"/>
                <a:ea typeface="Malgun Gothic"/>
              </a:rPr>
              <a:t>도시의 규칙: 생각은 비싸고, 기억은 공짜다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108862"/>
            <a:ext cx="10789920" cy="238252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규칙이 정확해야 오류가 설득력을 얻는다. 이 소설의 SF는 기계가 아니라 이 규칙들이다.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84048"/>
            <a:ext cx="73152" cy="880770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0266"/>
            <a:ext cx="11000232" cy="13716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73152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828A96"/>
                </a:solidFill>
                <a:latin typeface="Malgun Gothic"/>
                <a:ea typeface="Malgun Gothic"/>
              </a:rPr>
              <a:t>《캐시의 도시》 발전 기획서  |  기획안 02 심화 ·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919" b="1" i="0">
                <a:solidFill>
                  <a:srgbClr val="2A6866"/>
                </a:solidFill>
                <a:latin typeface="Malgun Gothic"/>
                <a:ea typeface="Malgun Gothic"/>
              </a:rPr>
              <a:t>04 /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5486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A6866"/>
                </a:solidFill>
                <a:latin typeface="Malgun Gothic"/>
                <a:ea typeface="Malgun Gothic"/>
              </a:rPr>
              <a:t>A. 평소의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55648"/>
            <a:ext cx="1600200" cy="749808"/>
          </a:xfrm>
          <a:prstGeom prst="roundRect">
            <a:avLst>
              <a:gd name="adj" fmla="val 10000"/>
            </a:avLst>
          </a:prstGeom>
          <a:solidFill>
            <a:srgbClr val="16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10512"/>
            <a:ext cx="1453896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19" b="1" i="0">
                <a:solidFill>
                  <a:srgbClr val="F4F1EA"/>
                </a:solidFill>
                <a:latin typeface="Malgun Gothic"/>
                <a:ea typeface="Malgun Gothic"/>
              </a:rPr>
              <a:t>시민의 딜레마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066543"/>
            <a:ext cx="1453896" cy="402335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15000"/>
              </a:lnSpc>
            </a:pPr>
            <a:r>
              <a:rPr sz="860" b="0" i="0">
                <a:solidFill>
                  <a:srgbClr val="AFB8C6"/>
                </a:solidFill>
                <a:latin typeface="Malgun Gothic"/>
                <a:ea typeface="Malgun Gothic"/>
              </a:rPr>
              <a:t>낯선 상황 · 결정 요청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1755648"/>
            <a:ext cx="1600200" cy="749808"/>
          </a:xfrm>
          <a:prstGeom prst="roundRect">
            <a:avLst>
              <a:gd name="adj" fmla="val 10000"/>
            </a:avLst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1810512"/>
            <a:ext cx="1453896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19" b="1" i="0">
                <a:solidFill>
                  <a:srgbClr val="FFFFFF"/>
                </a:solidFill>
                <a:latin typeface="Malgun Gothic"/>
                <a:ea typeface="Malgun Gothic"/>
              </a:rPr>
              <a:t>헤아림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2066543"/>
            <a:ext cx="1453896" cy="402335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15000"/>
              </a:lnSpc>
            </a:pPr>
            <a:r>
              <a:rPr sz="860" b="0" i="0">
                <a:solidFill>
                  <a:srgbClr val="E6F1F0"/>
                </a:solidFill>
                <a:latin typeface="Malgun Gothic"/>
                <a:ea typeface="Malgun Gothic"/>
              </a:rPr>
              <a:t>가장 비슷한 기억 찾기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755648"/>
            <a:ext cx="1645920" cy="749808"/>
          </a:xfrm>
          <a:prstGeom prst="roundRect">
            <a:avLst>
              <a:gd name="adj" fmla="val 10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810512"/>
            <a:ext cx="1499616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HIT  99.7%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066543"/>
            <a:ext cx="1499616" cy="402335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15000"/>
              </a:lnSpc>
            </a:pPr>
            <a:r>
              <a:rPr sz="860" b="0" i="0">
                <a:solidFill>
                  <a:srgbClr val="4E5766"/>
                </a:solidFill>
                <a:latin typeface="Malgun Gothic"/>
                <a:ea typeface="Malgun Gothic"/>
              </a:rPr>
              <a:t>행복 기억 반환 · 0.2초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2761488"/>
            <a:ext cx="1600200" cy="749808"/>
          </a:xfrm>
          <a:prstGeom prst="roundRect">
            <a:avLst>
              <a:gd name="adj" fmla="val 10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2" y="2816352"/>
            <a:ext cx="1453896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19" b="1" i="0">
                <a:solidFill>
                  <a:srgbClr val="CE942C"/>
                </a:solidFill>
                <a:latin typeface="Malgun Gothic"/>
                <a:ea typeface="Malgun Gothic"/>
              </a:rPr>
              <a:t>MISS  0.3%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7752" y="3072384"/>
            <a:ext cx="1453896" cy="402335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15000"/>
              </a:lnSpc>
            </a:pPr>
            <a:r>
              <a:rPr sz="860" b="0" i="0">
                <a:solidFill>
                  <a:srgbClr val="4E5766"/>
                </a:solidFill>
                <a:latin typeface="Malgun Gothic"/>
                <a:ea typeface="Malgun Gothic"/>
              </a:rPr>
              <a:t>직접 사고 · 현기증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761488"/>
            <a:ext cx="1645920" cy="749808"/>
          </a:xfrm>
          <a:prstGeom prst="roundRect">
            <a:avLst>
              <a:gd name="adj" fmla="val 10000"/>
            </a:avLst>
          </a:prstGeom>
          <a:solidFill>
            <a:srgbClr val="FA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816352"/>
            <a:ext cx="1499616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19" b="1" i="0">
                <a:solidFill>
                  <a:srgbClr val="C24E2A"/>
                </a:solidFill>
                <a:latin typeface="Malgun Gothic"/>
                <a:ea typeface="Malgun Gothic"/>
              </a:rPr>
              <a:t>연산소 (사고 서버)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072384"/>
            <a:ext cx="1499616" cy="402335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15000"/>
              </a:lnSpc>
            </a:pPr>
            <a:r>
              <a:rPr sz="860" b="0" i="0">
                <a:solidFill>
                  <a:srgbClr val="C24E2A"/>
                </a:solidFill>
                <a:latin typeface="Malgun Gothic"/>
                <a:ea typeface="Malgun Gothic"/>
              </a:rPr>
              <a:t>공식: 정상 / 실제: 7년 전 정지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12848" y="2130552"/>
            <a:ext cx="283464" cy="0"/>
          </a:xfrm>
          <a:prstGeom prst="line">
            <a:avLst/>
          </a:prstGeom>
          <a:ln w="19050">
            <a:solidFill>
              <a:srgbClr val="828A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33087" y="2130552"/>
            <a:ext cx="283465" cy="0"/>
          </a:xfrm>
          <a:prstGeom prst="line">
            <a:avLst/>
          </a:prstGeom>
          <a:ln w="19050">
            <a:solidFill>
              <a:srgbClr val="2A68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10128" y="2523744"/>
            <a:ext cx="0" cy="219456"/>
          </a:xfrm>
          <a:prstGeom prst="line">
            <a:avLst/>
          </a:prstGeom>
          <a:ln w="19050">
            <a:solidFill>
              <a:srgbClr val="CE94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3087" y="3136392"/>
            <a:ext cx="283465" cy="0"/>
          </a:xfrm>
          <a:prstGeom prst="line">
            <a:avLst/>
          </a:prstGeom>
          <a:ln w="19050">
            <a:solidFill>
              <a:srgbClr val="C24E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4360" y="3730752"/>
            <a:ext cx="5486400" cy="2578608"/>
          </a:xfrm>
          <a:prstGeom prst="roundRect">
            <a:avLst>
              <a:gd name="adj" fmla="val 4000"/>
            </a:avLst>
          </a:prstGeom>
          <a:solidFill>
            <a:srgbClr val="16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822191"/>
            <a:ext cx="512064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E942C"/>
                </a:solidFill>
                <a:latin typeface="Malgun Gothic"/>
                <a:ea typeface="Malgun Gothic"/>
              </a:rPr>
              <a:t>B. 이상 신호: ‘히트’인데 끝나지 않는 요청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187952"/>
            <a:ext cx="1572768" cy="1024128"/>
          </a:xfrm>
          <a:prstGeom prst="roundRect">
            <a:avLst>
              <a:gd name="adj" fmla="val 8000"/>
            </a:avLst>
          </a:prstGeom>
          <a:solidFill>
            <a:srgbClr val="222B3C"/>
          </a:solidFill>
          <a:ln w="17780">
            <a:solidFill>
              <a:srgbClr val="2A6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3" y="4242816"/>
            <a:ext cx="146304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930" b="1" i="0">
                <a:solidFill>
                  <a:srgbClr val="2A6866"/>
                </a:solidFill>
                <a:latin typeface="Malgun Gothic"/>
                <a:ea typeface="Malgun Gothic"/>
              </a:rPr>
              <a:t>① 요청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" y="4498848"/>
            <a:ext cx="1463040" cy="6766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18000"/>
              </a:lnSpc>
              <a:spcAft>
                <a:spcPts val="103"/>
              </a:spcAft>
            </a:pPr>
            <a:r>
              <a:rPr sz="860" b="0" i="0">
                <a:solidFill>
                  <a:srgbClr val="F4F1EA"/>
                </a:solidFill>
                <a:latin typeface="Malgun Gothic"/>
                <a:ea typeface="Malgun Gothic"/>
              </a:rPr>
              <a:t>“초코 케익이 먹고 싶다”</a:t>
            </a:r>
          </a:p>
          <a:p>
            <a:pPr algn="ctr">
              <a:lnSpc>
                <a:spcPct val="118000"/>
              </a:lnSpc>
            </a:pPr>
            <a:r>
              <a:rPr sz="860" b="0" i="0">
                <a:solidFill>
                  <a:srgbClr val="F4F1EA"/>
                </a:solidFill>
                <a:latin typeface="Malgun Gothic"/>
                <a:ea typeface="Malgun Gothic"/>
              </a:rPr>
              <a:t>가리키는 것: ‘먹고 싶다’(상태)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68296" y="4700016"/>
            <a:ext cx="173736" cy="0"/>
          </a:xfrm>
          <a:prstGeom prst="line">
            <a:avLst/>
          </a:prstGeom>
          <a:ln w="19050">
            <a:solidFill>
              <a:srgbClr val="AFB8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560320" y="4187952"/>
            <a:ext cx="1572768" cy="1024128"/>
          </a:xfrm>
          <a:prstGeom prst="roundRect">
            <a:avLst>
              <a:gd name="adj" fmla="val 8000"/>
            </a:avLst>
          </a:prstGeom>
          <a:solidFill>
            <a:srgbClr val="222B3C"/>
          </a:solidFill>
          <a:ln w="17780">
            <a:solidFill>
              <a:srgbClr val="CE9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4242816"/>
            <a:ext cx="146304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930" b="1" i="0">
                <a:solidFill>
                  <a:srgbClr val="CE942C"/>
                </a:solidFill>
                <a:latin typeface="Malgun Gothic"/>
                <a:ea typeface="Malgun Gothic"/>
              </a:rPr>
              <a:t>② 반환 (HIT)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498848"/>
            <a:ext cx="1463040" cy="6766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18000"/>
              </a:lnSpc>
              <a:spcAft>
                <a:spcPts val="103"/>
              </a:spcAft>
            </a:pPr>
            <a:r>
              <a:rPr sz="860" b="0" i="0">
                <a:solidFill>
                  <a:srgbClr val="F4F1EA"/>
                </a:solidFill>
                <a:latin typeface="Malgun Gothic"/>
                <a:ea typeface="Malgun Gothic"/>
              </a:rPr>
              <a:t>광고 #A-0417의</a:t>
            </a:r>
          </a:p>
          <a:p>
            <a:pPr algn="ctr">
              <a:lnSpc>
                <a:spcPct val="118000"/>
              </a:lnSpc>
            </a:pPr>
            <a:r>
              <a:rPr sz="860" b="0" i="0">
                <a:solidFill>
                  <a:srgbClr val="F4F1EA"/>
                </a:solidFill>
                <a:latin typeface="Malgun Gothic"/>
                <a:ea typeface="Malgun Gothic"/>
              </a:rPr>
              <a:t>초코 케익 이미지 (대상)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51376" y="4700016"/>
            <a:ext cx="173736" cy="0"/>
          </a:xfrm>
          <a:prstGeom prst="line">
            <a:avLst/>
          </a:prstGeom>
          <a:ln w="19050">
            <a:solidFill>
              <a:srgbClr val="AFB8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343400" y="4187952"/>
            <a:ext cx="1572768" cy="1024128"/>
          </a:xfrm>
          <a:prstGeom prst="roundRect">
            <a:avLst>
              <a:gd name="adj" fmla="val 8000"/>
            </a:avLst>
          </a:prstGeom>
          <a:solidFill>
            <a:srgbClr val="222B3C"/>
          </a:solidFill>
          <a:ln w="17780">
            <a:solidFill>
              <a:srgbClr val="C24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4242816"/>
            <a:ext cx="146304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930" b="1" i="0">
                <a:solidFill>
                  <a:srgbClr val="C24E2A"/>
                </a:solidFill>
                <a:latin typeface="Malgun Gothic"/>
                <a:ea typeface="Malgun Gothic"/>
              </a:rPr>
              <a:t>③ 불충족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4498848"/>
            <a:ext cx="1463040" cy="6766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18000"/>
              </a:lnSpc>
              <a:spcAft>
                <a:spcPts val="103"/>
              </a:spcAft>
            </a:pPr>
            <a:r>
              <a:rPr sz="860" b="0" i="0">
                <a:solidFill>
                  <a:srgbClr val="F4F1EA"/>
                </a:solidFill>
                <a:latin typeface="Malgun Gothic"/>
                <a:ea typeface="Malgun Gothic"/>
              </a:rPr>
              <a:t>상태는 그대로</a:t>
            </a:r>
          </a:p>
          <a:p>
            <a:pPr algn="ctr">
              <a:lnSpc>
                <a:spcPct val="118000"/>
              </a:lnSpc>
            </a:pPr>
            <a:r>
              <a:rPr sz="860" b="0" i="0">
                <a:solidFill>
                  <a:srgbClr val="F4F1EA"/>
                </a:solidFill>
                <a:latin typeface="Malgun Gothic"/>
                <a:ea typeface="Malgun Gothic"/>
              </a:rPr>
              <a:t>→ 같은 요청 다시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266944"/>
            <a:ext cx="512064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960" b="1" i="0">
                <a:solidFill>
                  <a:srgbClr val="F4F1EA"/>
                </a:solidFill>
                <a:latin typeface="Malgun Gothic"/>
                <a:ea typeface="Malgun Gothic"/>
              </a:rPr>
              <a:t>③ → 다시 ① 재요청  ×31,204회  →  도시 전체 지연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559552"/>
            <a:ext cx="5120640" cy="6766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AFB8C6"/>
                </a:solidFill>
                <a:latin typeface="Malgun Gothic"/>
                <a:ea typeface="Malgun Gothic"/>
              </a:rPr>
              <a:t>캐시는 ‘무엇을’에 답했지만 요청은 ‘어떤 상태’였다. 키가 맞으니 시스템은 성공으로 기록하고, 그래서 아무도 고치지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1417320"/>
            <a:ext cx="521208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A6866"/>
                </a:solidFill>
                <a:latin typeface="Malgun Gothic"/>
                <a:ea typeface="Malgun Gothic"/>
              </a:rPr>
              <a:t>C. 도시의 다섯 가지 규칙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1755648"/>
            <a:ext cx="52395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1755648"/>
            <a:ext cx="1078992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헤아림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1755648"/>
            <a:ext cx="3931920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모든 시민의 임플란트. 딜레마를 감지하면 가장 비슷한 행복 기억을 반환한다. 시야 오른쪽 위에 파란 자막으로 뜬다.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2542032"/>
            <a:ext cx="52395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2542032"/>
            <a:ext cx="1078992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현기증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2542032"/>
            <a:ext cx="3931920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캐시를 거치지 않고 직접 생각하면 이마 안쪽이 뒤틀리는 통증이 온다. 시민들은 이걸 ‘병’이라 부른다.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3328415"/>
            <a:ext cx="52395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3328415"/>
            <a:ext cx="1078992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기억 정리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3328415"/>
            <a:ext cx="3931920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메모리는 유한하다. 새 캐시를 넣으려면 오래된 기억을 지워야 하고, 도시는 아픈 기억(죄책감·애도)부터 지운다.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4114800"/>
            <a:ext cx="52395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3952" y="4114800"/>
            <a:ext cx="1078992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연산소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4114800"/>
            <a:ext cx="3931920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시민의 공동 사고를 처리하는 원 서버. 공식 상태는 언제나 ‘정상’이다. (실제로는 7년 전 정지)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4901183"/>
            <a:ext cx="52395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2" y="4901183"/>
            <a:ext cx="1078992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1" i="0">
                <a:solidFill>
                  <a:srgbClr val="2A6866"/>
                </a:solidFill>
                <a:latin typeface="Malgun Gothic"/>
                <a:ea typeface="Malgun Gothic"/>
              </a:rPr>
              <a:t>비캐시 구역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4901183"/>
            <a:ext cx="3931920" cy="7132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수신이 약한 구시가지. 사람들은 일기 · 녹음 · 냄새로 기억을 손수 복원한다. 행정상 ‘노후 지역’.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55080" y="5715000"/>
            <a:ext cx="5239512" cy="594360"/>
          </a:xfrm>
          <a:prstGeom prst="roundRect">
            <a:avLst>
              <a:gd name="adj" fmla="val 10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5715000"/>
            <a:ext cx="4983480" cy="594360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61C28"/>
                </a:solidFill>
                <a:latin typeface="Malgun Gothic"/>
                <a:ea typeface="Malgun Gothic"/>
              </a:rPr>
              <a:t>쓰는 요령: 규칙은 설명하지 말고 UI 문구 · 숫자 · 신체 감각으로만 보여준다. (“추천 응답 #402: 온화한 미소와 공감”)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310896"/>
            <a:ext cx="10789920" cy="219456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2A6866"/>
                </a:solidFill>
                <a:latin typeface="Malgun Gothic"/>
                <a:ea typeface="Malgun Gothic"/>
              </a:rPr>
              <a:t>04  |  CHARACTERS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612647"/>
            <a:ext cx="10789920" cy="413918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61C28"/>
                </a:solidFill>
                <a:latin typeface="Malgun Gothic"/>
                <a:ea typeface="Malgun Gothic"/>
              </a:rPr>
              <a:t>네 사람, 그러나 실제로 생각하는 사람은 한 명도 없이 시작한다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108862"/>
            <a:ext cx="10789920" cy="238252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각 인물은 ‘캐시’를 대하는 서로 다른 태도다: 의존 · 상실 · 거부 · 반복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84048"/>
            <a:ext cx="73152" cy="880770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0266"/>
            <a:ext cx="11000232" cy="13716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73152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828A96"/>
                </a:solidFill>
                <a:latin typeface="Malgun Gothic"/>
                <a:ea typeface="Malgun Gothic"/>
              </a:rPr>
              <a:t>《캐시의 도시》 발전 기획서  |  기획안 02 심화 ·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919" b="1" i="0">
                <a:solidFill>
                  <a:srgbClr val="2A6866"/>
                </a:solidFill>
                <a:latin typeface="Malgun Gothic"/>
                <a:ea typeface="Malgun Gothic"/>
              </a:rPr>
              <a:t>05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44752"/>
            <a:ext cx="5449824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444752"/>
            <a:ext cx="5449824" cy="512064"/>
          </a:xfrm>
          <a:prstGeom prst="roundRect">
            <a:avLst>
              <a:gd name="adj" fmla="val 15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444752"/>
            <a:ext cx="73152" cy="2395728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1170432" cy="38404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A6866"/>
                </a:solidFill>
                <a:latin typeface="Malgun Gothic"/>
                <a:ea typeface="Malgun Gothic"/>
              </a:rPr>
              <a:t>서진우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517904"/>
            <a:ext cx="3895344" cy="38404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60" b="1" i="0">
                <a:solidFill>
                  <a:srgbClr val="4E5766"/>
                </a:solidFill>
                <a:latin typeface="Malgun Gothic"/>
                <a:ea typeface="Malgun Gothic"/>
              </a:rPr>
              <a:t>38 · 부하테스트 엔지니어 · 주인공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48256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A6866"/>
                </a:solidFill>
                <a:latin typeface="Malgun Gothic"/>
                <a:ea typeface="Malgun Gothic"/>
              </a:rPr>
              <a:t>거짓 믿음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2048256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생각은 비용이다. 같은 답이 나올 일을 다시 계산하는 건 낭비다.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487168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A6866"/>
                </a:solidFill>
                <a:latin typeface="Malgun Gothic"/>
                <a:ea typeface="Malgun Gothic"/>
              </a:rPr>
              <a:t>원하는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2487168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병목을 찾아 차단하고 히트율 100%를 만드는 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926080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A6866"/>
                </a:solidFill>
                <a:latin typeface="Malgun Gothic"/>
                <a:ea typeface="Malgun Gothic"/>
              </a:rPr>
              <a:t>필요한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2926080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계산해 본 적 없는 질문(아버지)을 직접 연산하는 고통.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364992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A6866"/>
                </a:solidFill>
                <a:latin typeface="Malgun Gothic"/>
                <a:ea typeface="Malgun Gothic"/>
              </a:rPr>
              <a:t>상처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3364992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7년 전 아버지의 요양 결정을 추천 응답에 맡기고, 아버지 기억을 직접 ‘정리’ 승인했다.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444752"/>
            <a:ext cx="5449824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44768" y="1444752"/>
            <a:ext cx="5449824" cy="512064"/>
          </a:xfrm>
          <a:prstGeom prst="roundRect">
            <a:avLst>
              <a:gd name="adj" fmla="val 15000"/>
            </a:avLst>
          </a:prstGeom>
          <a:solidFill>
            <a:srgbClr val="FA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444752"/>
            <a:ext cx="73152" cy="2395728"/>
          </a:xfrm>
          <a:prstGeom prst="rect">
            <a:avLst/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517904"/>
            <a:ext cx="1170432" cy="38404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24E2A"/>
                </a:solidFill>
                <a:latin typeface="Malgun Gothic"/>
                <a:ea typeface="Malgun Gothic"/>
              </a:rPr>
              <a:t>서기철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1517904"/>
            <a:ext cx="3895344" cy="38404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60" b="1" i="0">
                <a:solidFill>
                  <a:srgbClr val="4E5766"/>
                </a:solidFill>
                <a:latin typeface="Malgun Gothic"/>
                <a:ea typeface="Malgun Gothic"/>
              </a:rPr>
              <a:t>74 · 무연고 사망자 · 진우의 아버지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C24E2A"/>
                </a:solidFill>
                <a:latin typeface="Malgun Gothic"/>
                <a:ea typeface="Malgun Gothic"/>
              </a:rPr>
              <a:t>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2048256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말년에 헤아림이 허기와 미각까지 캐시로 대신했다. 배고픔을 느낀 지 몇 년째다.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487168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C24E2A"/>
                </a:solidFill>
                <a:latin typeface="Malgun Gothic"/>
                <a:ea typeface="Malgun Gothic"/>
              </a:rPr>
              <a:t>마지막 로그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2487168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‘초코 케익이 먹고 싶다’를 31,204번 요청했다.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926080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C24E2A"/>
                </a:solidFill>
                <a:latin typeface="Malgun Gothic"/>
                <a:ea typeface="Malgun Gothic"/>
              </a:rPr>
              <a:t>진짜 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0336" y="2926080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케익이 아니라, 무언가를 원하는 감각 자체를 돌려받고 싶었다.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364992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C24E2A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0336" y="3364992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소설의 수수께끼이자, 진우가 끝까지 피해 온 계산.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931920"/>
            <a:ext cx="5449824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" y="3931920"/>
            <a:ext cx="5449824" cy="512064"/>
          </a:xfrm>
          <a:prstGeom prst="roundRect">
            <a:avLst>
              <a:gd name="adj" fmla="val 15000"/>
            </a:avLst>
          </a:prstGeom>
          <a:solidFill>
            <a:srgbClr val="F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3931920"/>
            <a:ext cx="73152" cy="2395728"/>
          </a:xfrm>
          <a:prstGeom prst="rect">
            <a:avLst/>
          </a:prstGeom>
          <a:solidFill>
            <a:srgbClr val="7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4005072"/>
            <a:ext cx="1170432" cy="38404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763652"/>
                </a:solidFill>
                <a:latin typeface="Malgun Gothic"/>
                <a:ea typeface="Malgun Gothic"/>
              </a:rPr>
              <a:t>윤해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4005072"/>
            <a:ext cx="3895344" cy="38404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60" b="1" i="0">
                <a:solidFill>
                  <a:srgbClr val="4E5766"/>
                </a:solidFill>
                <a:latin typeface="Malgun Gothic"/>
                <a:ea typeface="Malgun Gothic"/>
              </a:rPr>
              <a:t>40대 · 비캐시 구역 기억 복원사 · 타자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4535424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763652"/>
                </a:solidFill>
                <a:latin typeface="Malgun Gothic"/>
                <a:ea typeface="Malgun Gothic"/>
              </a:rPr>
              <a:t>정체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09928" y="4535424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임플란트를 스스로 뽑아낸 사람. 서기철의 유품을 맡아 두고 있었다.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4974336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763652"/>
                </a:solidFill>
                <a:latin typeface="Malgun Gothic"/>
                <a:ea typeface="Malgun Gothic"/>
              </a:rPr>
              <a:t>원칙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9928" y="4974336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“믿고 싶은 기억은 복원하지 않아요. 인정할 수밖에 없는 것만 남깁니다.”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" y="5413248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763652"/>
                </a:solidFill>
                <a:latin typeface="Malgun Gothic"/>
                <a:ea typeface="Malgun Gothic"/>
              </a:rPr>
              <a:t>진우에게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09928" y="5413248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위로하지 않는다. 진우의 추론을 번번이 틀리게 만드는, 캐시가 통하지 않는 사람.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5852160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763652"/>
                </a:solidFill>
                <a:latin typeface="Malgun Gothic"/>
                <a:ea typeface="Malgun Gothic"/>
              </a:rPr>
              <a:t>주의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9928" y="5852160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구원자나 스승으로 쓰지 말 것. 그녀도 자기 몫의 회피가 있다.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4768" y="3931920"/>
            <a:ext cx="5449824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44768" y="3931920"/>
            <a:ext cx="5449824" cy="512064"/>
          </a:xfrm>
          <a:prstGeom prst="roundRect">
            <a:avLst>
              <a:gd name="adj" fmla="val 15000"/>
            </a:avLst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44768" y="3931920"/>
            <a:ext cx="73152" cy="2395728"/>
          </a:xfrm>
          <a:prstGeom prst="rect">
            <a:avLst/>
          </a:prstGeom>
          <a:solidFill>
            <a:srgbClr val="3A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4005072"/>
            <a:ext cx="1170432" cy="38404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3A528A"/>
                </a:solidFill>
                <a:latin typeface="Malgun Gothic"/>
                <a:ea typeface="Malgun Gothic"/>
              </a:rPr>
              <a:t>어머니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4005072"/>
            <a:ext cx="3895344" cy="384048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60" b="1" i="0">
                <a:solidFill>
                  <a:srgbClr val="4E5766"/>
                </a:solidFill>
                <a:latin typeface="Malgun Gothic"/>
                <a:ea typeface="Malgun Gothic"/>
              </a:rPr>
              <a:t>도시 거버넌스 응답 체계 · 대립자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5936" y="4535424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3A528A"/>
                </a:solidFill>
                <a:latin typeface="Malgun Gothic"/>
                <a:ea typeface="Malgun Gothic"/>
              </a:rPr>
              <a:t>정체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0336" y="4535424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창립자들이 남긴 ‘캐시된 대답’. 연산소가 멈춘 뒤로 혼자 도시를 굴려 왔다.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5936" y="4974336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3A528A"/>
                </a:solidFill>
                <a:latin typeface="Malgun Gothic"/>
                <a:ea typeface="Malgun Gothic"/>
              </a:rPr>
              <a:t>대사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0336" y="4974336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무엇을 물어도 “당신은 안전합니다.” 끝까지 이 한 문장뿐이다.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5413248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3A528A"/>
                </a:solidFill>
                <a:latin typeface="Malgun Gothic"/>
                <a:ea typeface="Malgun Gothic"/>
              </a:rPr>
              <a:t>행동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0336" y="5413248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진우의 ‘이상 사고 패턴’을 감지해 기억 정리를 예약한다. 악의가 아니라 반복이다.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5936" y="5852160"/>
            <a:ext cx="914400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3A528A"/>
                </a:solidFill>
                <a:latin typeface="Malgun Gothic"/>
                <a:ea typeface="Malgun Gothic"/>
              </a:rPr>
              <a:t>결말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0336" y="5852160"/>
            <a:ext cx="4187952" cy="42062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15000"/>
              </a:lnSpc>
            </a:pPr>
            <a:r>
              <a:rPr sz="910" b="0" i="0">
                <a:solidFill>
                  <a:srgbClr val="161C28"/>
                </a:solidFill>
                <a:latin typeface="Malgun Gothic"/>
                <a:ea typeface="Malgun Gothic"/>
              </a:rPr>
              <a:t>이길 상대가 아니라 만료시킬 값. 쓰러지는 게 아니라 유효기간이 끝난다.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310896"/>
            <a:ext cx="10789920" cy="219456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CE942C"/>
                </a:solidFill>
                <a:latin typeface="Malgun Gothic"/>
                <a:ea typeface="Malgun Gothic"/>
              </a:rPr>
              <a:t>05  |  8-SCENE PLOT  ·  원고지 90매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612647"/>
            <a:ext cx="10789920" cy="413918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F4F1EA"/>
                </a:solidFill>
                <a:latin typeface="Malgun Gothic"/>
                <a:ea typeface="Malgun Gothic"/>
              </a:rPr>
              <a:t>‘그리고’가 아니라 ‘그래서 / 그러나’로 잇는 여덟 장면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108862"/>
            <a:ext cx="10789920" cy="238252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AFB8C6"/>
                </a:solidFill>
                <a:latin typeface="Malgun Gothic"/>
                <a:ea typeface="Malgun Gothic"/>
              </a:rPr>
              <a:t>각 장면 끝에서 감정 부호(+/−)가 뒤집히는지 확인할 것. 숫자는 권장 매수.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84048"/>
            <a:ext cx="73152" cy="880770"/>
          </a:xfrm>
          <a:prstGeom prst="rect">
            <a:avLst/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0266"/>
            <a:ext cx="11000232" cy="13716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73152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828A96"/>
                </a:solidFill>
                <a:latin typeface="Malgun Gothic"/>
                <a:ea typeface="Malgun Gothic"/>
              </a:rPr>
              <a:t>《캐시의 도시》 발전 기획서  |  기획안 02 심화 ·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919" b="1" i="0">
                <a:solidFill>
                  <a:srgbClr val="CE942C"/>
                </a:solidFill>
                <a:latin typeface="Malgun Gothic"/>
                <a:ea typeface="Malgun Gothic"/>
              </a:rPr>
              <a:t>06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44752"/>
            <a:ext cx="2670048" cy="23957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44752"/>
            <a:ext cx="2670048" cy="64008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1609344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609344"/>
            <a:ext cx="512064" cy="256032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</a:rPr>
              <a:t>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1609344"/>
            <a:ext cx="91440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AFB8C6"/>
                </a:solidFill>
                <a:latin typeface="Malgun Gothic"/>
                <a:ea typeface="Malgun Gothic"/>
              </a:rPr>
              <a:t>10매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1609344"/>
            <a:ext cx="73152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1050" b="1" i="0">
                <a:solidFill>
                  <a:srgbClr val="2A6866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1956816"/>
            <a:ext cx="237744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F4F1EA"/>
                </a:solidFill>
                <a:latin typeface="Malgun Gothic"/>
                <a:ea typeface="Malgun Gothic"/>
              </a:rPr>
              <a:t>히트율 99.7%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" y="2304288"/>
            <a:ext cx="2377440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395728"/>
            <a:ext cx="2377440" cy="137160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AFB8C6"/>
                </a:solidFill>
                <a:latin typeface="Malgun Gothic"/>
                <a:ea typeface="Malgun Gothic"/>
              </a:rPr>
              <a:t>해변 공원 부하테스트 리허설. 동료가 위로를 청하자 진우는 추천 응답 #402를 자동 승인한다. 아무도 생각하지 않는 완벽한 하루.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1392" y="1444752"/>
            <a:ext cx="2670048" cy="23957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71392" y="1444752"/>
            <a:ext cx="2670048" cy="64008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17696" y="1609344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7696" y="1609344"/>
            <a:ext cx="512064" cy="256032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</a:rPr>
              <a:t>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4624" y="1609344"/>
            <a:ext cx="91440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AFB8C6"/>
                </a:solidFill>
                <a:latin typeface="Malgun Gothic"/>
                <a:ea typeface="Malgun Gothic"/>
              </a:rPr>
              <a:t>10매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3616" y="1609344"/>
            <a:ext cx="73152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1050" b="1" i="0">
                <a:solidFill>
                  <a:srgbClr val="2A6866"/>
                </a:solidFill>
                <a:latin typeface="Malgun Gothic"/>
                <a:ea typeface="Malgun Gothic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7696" y="1956816"/>
            <a:ext cx="237744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F4F1EA"/>
                </a:solidFill>
                <a:latin typeface="Malgun Gothic"/>
                <a:ea typeface="Malgun Gothic"/>
              </a:rPr>
              <a:t>한 줄짜리 병목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17696" y="2304288"/>
            <a:ext cx="2377440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7696" y="2395728"/>
            <a:ext cx="2377440" cy="137160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AFB8C6"/>
                </a:solidFill>
                <a:latin typeface="Malgun Gothic"/>
                <a:ea typeface="Malgun Gothic"/>
              </a:rPr>
              <a:t>도시 전체에 지연이 생긴다. 원인은 무연고 사망자의 뇌 로그 한 줄. ‘초코 케익이 먹고 싶다’ 31,204회 재요청.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8425" y="1444752"/>
            <a:ext cx="2670048" cy="23957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8425" y="1444752"/>
            <a:ext cx="2670048" cy="64008"/>
          </a:xfrm>
          <a:prstGeom prst="rect">
            <a:avLst/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94729" y="1609344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4729" y="1609344"/>
            <a:ext cx="512064" cy="256032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</a:rPr>
              <a:t>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1657" y="1609344"/>
            <a:ext cx="91440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AFB8C6"/>
                </a:solidFill>
                <a:latin typeface="Malgun Gothic"/>
                <a:ea typeface="Malgun Gothic"/>
              </a:rPr>
              <a:t>10매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0649" y="1609344"/>
            <a:ext cx="73152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1050" b="1" i="0">
                <a:solidFill>
                  <a:srgbClr val="CE942C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4729" y="1956816"/>
            <a:ext cx="237744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F4F1EA"/>
                </a:solidFill>
                <a:latin typeface="Malgun Gothic"/>
                <a:ea typeface="Malgun Gothic"/>
              </a:rPr>
              <a:t>가짜 해결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4729" y="2304288"/>
            <a:ext cx="2377440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4729" y="2395728"/>
            <a:ext cx="2377440" cy="137160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AFB8C6"/>
                </a:solidFill>
                <a:latin typeface="Malgun Gothic"/>
                <a:ea typeface="Malgun Gothic"/>
              </a:rPr>
              <a:t>진우는 해당 요청을 차단 목록에 넣어 지연을 잡는다. 칭찬을 받는다. 그날 밤, 다른 노인들의 로그에서 같은 패턴이 번지기 시작한다.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25458" y="1444752"/>
            <a:ext cx="2670048" cy="23957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25458" y="1444752"/>
            <a:ext cx="2670048" cy="64008"/>
          </a:xfrm>
          <a:prstGeom prst="rect">
            <a:avLst/>
          </a:prstGeom>
          <a:solidFill>
            <a:srgbClr val="7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71762" y="1609344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76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71762" y="1609344"/>
            <a:ext cx="512064" cy="256032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</a:rPr>
              <a:t>S4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8690" y="1609344"/>
            <a:ext cx="91440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AFB8C6"/>
                </a:solidFill>
                <a:latin typeface="Malgun Gothic"/>
                <a:ea typeface="Malgun Gothic"/>
              </a:rPr>
              <a:t>12매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7682" y="1609344"/>
            <a:ext cx="73152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1050" b="1" i="0">
                <a:solidFill>
                  <a:srgbClr val="763652"/>
                </a:solidFill>
                <a:latin typeface="Malgun Gothic"/>
                <a:ea typeface="Malgun Gothic"/>
              </a:rPr>
              <a:t>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1762" y="1956816"/>
            <a:ext cx="237744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F4F1EA"/>
                </a:solidFill>
                <a:latin typeface="Malgun Gothic"/>
                <a:ea typeface="Malgun Gothic"/>
              </a:rPr>
              <a:t>바깥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1762" y="2304288"/>
            <a:ext cx="2377440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1762" y="2395728"/>
            <a:ext cx="2377440" cy="137160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AFB8C6"/>
                </a:solidFill>
                <a:latin typeface="Malgun Gothic"/>
                <a:ea typeface="Malgun Gothic"/>
              </a:rPr>
              <a:t>패턴을 따라 비캐시 구역 윤해의 공방에 닿는다. 윤해가 꺼낸 유품 상자 속 요양원 서류에 보호자 ‘서진우’. 노인은 무연고가 아니었다.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3931920"/>
            <a:ext cx="2670048" cy="23957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3931920"/>
            <a:ext cx="2670048" cy="64008"/>
          </a:xfrm>
          <a:prstGeom prst="rect">
            <a:avLst/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0664" y="4096512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" y="4096512"/>
            <a:ext cx="512064" cy="256032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</a:rPr>
              <a:t>S5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07592" y="4096512"/>
            <a:ext cx="91440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AFB8C6"/>
                </a:solidFill>
                <a:latin typeface="Malgun Gothic"/>
                <a:ea typeface="Malgun Gothic"/>
              </a:rPr>
              <a:t>14매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86584" y="4096512"/>
            <a:ext cx="73152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1050" b="1" i="0">
                <a:solidFill>
                  <a:srgbClr val="C24E2A"/>
                </a:solidFill>
                <a:latin typeface="Malgun Gothic"/>
                <a:ea typeface="Malgun Gothic"/>
              </a:rPr>
              <a:t>−→+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" y="4443984"/>
            <a:ext cx="237744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F4F1EA"/>
                </a:solidFill>
                <a:latin typeface="Malgun Gothic"/>
                <a:ea typeface="Malgun Gothic"/>
              </a:rPr>
              <a:t>중간점: 고장 난 서버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" y="4791456"/>
            <a:ext cx="2377440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" y="4882896"/>
            <a:ext cx="2377440" cy="137160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AFB8C6"/>
                </a:solidFill>
                <a:latin typeface="Malgun Gothic"/>
                <a:ea typeface="Malgun Gothic"/>
              </a:rPr>
              <a:t>진우는 추천 응답을 끄고 직접 계산한다(첫 현기증). 요청은 상태, 응답은 광고 이미지. 연산소에 접속하자 7년 전 정지 기록이 뜬다.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71392" y="3931920"/>
            <a:ext cx="2670048" cy="23957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71392" y="3931920"/>
            <a:ext cx="2670048" cy="64008"/>
          </a:xfrm>
          <a:prstGeom prst="rect">
            <a:avLst/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517696" y="4096512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17696" y="4096512"/>
            <a:ext cx="512064" cy="256032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</a:rPr>
              <a:t>S6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84624" y="4096512"/>
            <a:ext cx="91440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AFB8C6"/>
                </a:solidFill>
                <a:latin typeface="Malgun Gothic"/>
                <a:ea typeface="Malgun Gothic"/>
              </a:rPr>
              <a:t>10매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3616" y="4096512"/>
            <a:ext cx="73152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1050" b="1" i="0">
                <a:solidFill>
                  <a:srgbClr val="C24E2A"/>
                </a:solidFill>
                <a:latin typeface="Malgun Gothic"/>
                <a:ea typeface="Malgun Gothic"/>
              </a:rPr>
              <a:t>−−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17696" y="4443984"/>
            <a:ext cx="237744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F4F1EA"/>
                </a:solidFill>
                <a:latin typeface="Malgun Gothic"/>
                <a:ea typeface="Malgun Gothic"/>
              </a:rPr>
              <a:t>자기 로그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17696" y="4791456"/>
            <a:ext cx="2377440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17696" y="4882896"/>
            <a:ext cx="2377440" cy="137160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AFB8C6"/>
                </a:solidFill>
                <a:latin typeface="Malgun Gothic"/>
                <a:ea typeface="Malgun Gothic"/>
              </a:rPr>
              <a:t>어머니가 진우의 기억 정리를 예약한다. 진우는 7년 전 아버지 기억을 ‘정리’ 승인한 자신의 로그를 찾아낸다. 승인 시간 0.2초.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48425" y="3931920"/>
            <a:ext cx="2670048" cy="23957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48425" y="3931920"/>
            <a:ext cx="2670048" cy="64008"/>
          </a:xfrm>
          <a:prstGeom prst="rect">
            <a:avLst/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294729" y="4096512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94729" y="4096512"/>
            <a:ext cx="512064" cy="256032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</a:rPr>
              <a:t>S7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61657" y="4096512"/>
            <a:ext cx="91440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AFB8C6"/>
                </a:solidFill>
                <a:latin typeface="Malgun Gothic"/>
                <a:ea typeface="Malgun Gothic"/>
              </a:rPr>
              <a:t>14매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40649" y="4096512"/>
            <a:ext cx="73152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1050" b="1" i="0">
                <a:solidFill>
                  <a:srgbClr val="CE942C"/>
                </a:solidFill>
                <a:latin typeface="Malgun Gothic"/>
                <a:ea typeface="Malgun Gothic"/>
              </a:rPr>
              <a:t>절정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729" y="4443984"/>
            <a:ext cx="237744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F4F1EA"/>
                </a:solidFill>
                <a:latin typeface="Malgun Gothic"/>
                <a:ea typeface="Malgun Gothic"/>
              </a:rPr>
              <a:t>응답 없음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94729" y="4791456"/>
            <a:ext cx="2377440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94729" y="4882896"/>
            <a:ext cx="2377440" cy="137160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AFB8C6"/>
                </a:solidFill>
                <a:latin typeface="Malgun Gothic"/>
                <a:ea typeface="Malgun Gothic"/>
              </a:rPr>
              <a:t>진우는 진실을 송출하지 않는다. 캐시 계층을 내려 연산소의 실제 상태를 드러낸다. 해변의 홀로그램이 멈추고, 시민들의 시야에 빈칸이 뜬다.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25458" y="3931920"/>
            <a:ext cx="2670048" cy="23957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25458" y="3931920"/>
            <a:ext cx="2670048" cy="64008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071762" y="4096512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71762" y="4096512"/>
            <a:ext cx="512064" cy="256032"/>
          </a:xfrm>
          <a:prstGeom prst="rect">
            <a:avLst/>
          </a:prstGeom>
          <a:noFill/>
        </p:spPr>
        <p:txBody>
          <a:bodyPr wrap="square" anchor="ctr" lIns="18288" rIns="18288" tIns="12801" bIns="12801">
            <a:no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</a:rPr>
              <a:t>S8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38690" y="4096512"/>
            <a:ext cx="91440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AFB8C6"/>
                </a:solidFill>
                <a:latin typeface="Malgun Gothic"/>
                <a:ea typeface="Malgun Gothic"/>
              </a:rPr>
              <a:t>10매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17682" y="4096512"/>
            <a:ext cx="731520" cy="256032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1050" b="1" i="0">
                <a:solidFill>
                  <a:srgbClr val="2A6866"/>
                </a:solidFill>
                <a:latin typeface="Malgun Gothic"/>
                <a:ea typeface="Malgun Gothic"/>
              </a:rPr>
              <a:t>여운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71762" y="4443984"/>
            <a:ext cx="2377440" cy="31089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F4F1EA"/>
                </a:solidFill>
                <a:latin typeface="Malgun Gothic"/>
                <a:ea typeface="Malgun Gothic"/>
              </a:rPr>
              <a:t>첫 번째 케익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71762" y="4791456"/>
            <a:ext cx="2377440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71762" y="4882896"/>
            <a:ext cx="2377440" cy="137160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AFB8C6"/>
                </a:solidFill>
                <a:latin typeface="Malgun Gothic"/>
                <a:ea typeface="Malgun Gothic"/>
              </a:rPr>
              <a:t>구시가지 빵집. 진우는 처음으로 진짜 초코 케익을 산다. 광고만큼 달지 않다. 배가 고픈지 아닌지 스스로 알아내는 데 오래 걸린다.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310896"/>
            <a:ext cx="10789920" cy="219456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2A6866"/>
                </a:solidFill>
                <a:latin typeface="Malgun Gothic"/>
                <a:ea typeface="Malgun Gothic"/>
              </a:rPr>
              <a:t>06  |  KEY SCENES &amp; TRAPS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612647"/>
            <a:ext cx="10789920" cy="413918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61C28"/>
                </a:solidFill>
                <a:latin typeface="Malgun Gothic"/>
                <a:ea typeface="Malgun Gothic"/>
              </a:rPr>
              <a:t>세 장면이 소설의 무게를 받친다: 첫 현기증, 응답 없음, 첫 번째 케익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108862"/>
            <a:ext cx="10789920" cy="238252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E5766"/>
                </a:solidFill>
                <a:latin typeface="Malgun Gothic"/>
                <a:ea typeface="Malgun Gothic"/>
              </a:rPr>
              <a:t>아래 문장은 톤을 잡기 위한 샘플이다. 그대로 쓰기보다 작가의 호흡으로 다시 쓰는 출발점으로.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84048"/>
            <a:ext cx="73152" cy="880770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0266"/>
            <a:ext cx="11000232" cy="13716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73152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828A96"/>
                </a:solidFill>
                <a:latin typeface="Malgun Gothic"/>
                <a:ea typeface="Malgun Gothic"/>
              </a:rPr>
              <a:t>《캐시의 도시》 발전 기획서  |  기획안 02 심화 ·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919" b="1" i="0">
                <a:solidFill>
                  <a:srgbClr val="2A6866"/>
                </a:solidFill>
                <a:latin typeface="Malgun Gothic"/>
                <a:ea typeface="Malgun Gothic"/>
              </a:rPr>
              <a:t>07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63040"/>
            <a:ext cx="6675120" cy="1517904"/>
          </a:xfrm>
          <a:prstGeom prst="roundRect">
            <a:avLst>
              <a:gd name="adj" fmla="val 5000"/>
            </a:avLst>
          </a:prstGeom>
          <a:solidFill>
            <a:srgbClr val="FA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63040"/>
            <a:ext cx="73152" cy="1517904"/>
          </a:xfrm>
          <a:prstGeom prst="rect">
            <a:avLst/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72768"/>
            <a:ext cx="630936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24E2A"/>
                </a:solidFill>
                <a:latin typeface="Malgun Gothic"/>
                <a:ea typeface="Malgun Gothic"/>
              </a:rPr>
              <a:t>S5  첫 현기증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65376"/>
            <a:ext cx="6309360" cy="107899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42000"/>
              </a:lnSpc>
            </a:pPr>
            <a:r>
              <a:rPr sz="1060" b="0" i="0">
                <a:solidFill>
                  <a:srgbClr val="161C28"/>
                </a:solidFill>
                <a:latin typeface="Malgun Gothic"/>
                <a:ea typeface="Malgun Gothic"/>
              </a:rPr>
              <a:t>“진우는 추천 응답 창을 닫았다. 아버지가 왜 서른 번이 아니라 삼만 번을 넘게 물었는지, 이번에는 직접 계산해야 했다. 계산을 시작하자 이마 안쪽에서 오래 쓰지 않은 경첩이 돌아가는 소리가 났다.”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090672"/>
            <a:ext cx="6675120" cy="1517904"/>
          </a:xfrm>
          <a:prstGeom prst="roundRect">
            <a:avLst>
              <a:gd name="adj" fmla="val 5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090672"/>
            <a:ext cx="73152" cy="1517904"/>
          </a:xfrm>
          <a:prstGeom prst="rect">
            <a:avLst/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630936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E942C"/>
                </a:solidFill>
                <a:latin typeface="Malgun Gothic"/>
                <a:ea typeface="Malgun Gothic"/>
              </a:rPr>
              <a:t>S7  응답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93008"/>
            <a:ext cx="6309360" cy="107899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42000"/>
              </a:lnSpc>
            </a:pPr>
            <a:r>
              <a:rPr sz="1060" b="0" i="0">
                <a:solidFill>
                  <a:srgbClr val="161C28"/>
                </a:solidFill>
                <a:latin typeface="Malgun Gothic"/>
                <a:ea typeface="Malgun Gothic"/>
              </a:rPr>
              <a:t>“해변의 홀로그램 케익이 반쯤 녹은 채 멈췄다. 사람들의 시야 오른쪽 위, 늘 무언가 떠오르던 자리에 아무것도 떠오르지 않았다. 사람들은 처음으로 서로의 얼굴을 오래 보았다. 무엇을 해야 하는지 묻기 위해서였다.”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718304"/>
            <a:ext cx="6675120" cy="1517904"/>
          </a:xfrm>
          <a:prstGeom prst="roundRect">
            <a:avLst>
              <a:gd name="adj" fmla="val 5000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718304"/>
            <a:ext cx="73152" cy="1517904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28032"/>
            <a:ext cx="630936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A6866"/>
                </a:solidFill>
                <a:latin typeface="Malgun Gothic"/>
                <a:ea typeface="Malgun Gothic"/>
              </a:rPr>
              <a:t>S8  마지막 문단 후보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6309360" cy="107899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42000"/>
              </a:lnSpc>
            </a:pPr>
            <a:r>
              <a:rPr sz="1060" b="0" i="0">
                <a:solidFill>
                  <a:srgbClr val="161C28"/>
                </a:solidFill>
                <a:latin typeface="Malgun Gothic"/>
                <a:ea typeface="Malgun Gothic"/>
              </a:rPr>
              <a:t>“케익은 광고만큼 달지 않았다. 진우는 포크를 내려놓고 오래 기다렸다. 배가 고픈지 아닌지, 이번에는 아무도 대신 대답해 주지 않았다.”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463040"/>
            <a:ext cx="4096512" cy="4773168"/>
          </a:xfrm>
          <a:prstGeom prst="roundRect">
            <a:avLst>
              <a:gd name="adj" fmla="val 4000"/>
            </a:avLst>
          </a:prstGeom>
          <a:solidFill>
            <a:srgbClr val="16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1591056"/>
            <a:ext cx="3749039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E942C"/>
                </a:solidFill>
                <a:latin typeface="Malgun Gothic"/>
                <a:ea typeface="Malgun Gothic"/>
              </a:rPr>
              <a:t>피해야 할 함정 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9248" y="2029968"/>
            <a:ext cx="3694176" cy="1261872"/>
          </a:xfrm>
          <a:prstGeom prst="roundRect">
            <a:avLst>
              <a:gd name="adj" fmla="val 6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121408"/>
            <a:ext cx="347472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30" b="1" i="0">
                <a:solidFill>
                  <a:srgbClr val="F4F1EA"/>
                </a:solidFill>
                <a:latin typeface="Malgun Gothic"/>
                <a:ea typeface="Malgun Gothic"/>
              </a:rPr>
              <a:t>01  설교형 결말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414016"/>
            <a:ext cx="3474720" cy="84124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AFB8C6"/>
                </a:solidFill>
                <a:latin typeface="Malgun Gothic"/>
                <a:ea typeface="Malgun Gothic"/>
              </a:rPr>
              <a:t>진우가 정답을 ‘송출’하면 그것도 또 하나의 캐시다. 결말은 빈칸까지만. 무엇을 채울지는 인물들과 독자의 몫.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3419856"/>
            <a:ext cx="3694176" cy="1261872"/>
          </a:xfrm>
          <a:prstGeom prst="roundRect">
            <a:avLst>
              <a:gd name="adj" fmla="val 6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3511296"/>
            <a:ext cx="347472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30" b="1" i="0">
                <a:solidFill>
                  <a:srgbClr val="F4F1EA"/>
                </a:solidFill>
                <a:latin typeface="Malgun Gothic"/>
                <a:ea typeface="Malgun Gothic"/>
              </a:rPr>
              <a:t>02  어머니의 악당화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803904"/>
            <a:ext cx="3474720" cy="84124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AFB8C6"/>
                </a:solidFill>
                <a:latin typeface="Malgun Gothic"/>
                <a:ea typeface="Malgun Gothic"/>
              </a:rPr>
              <a:t>어머니가 화를 내거나 음모를 꾸미는 순간 이야기는 흔한 AI 반란물이 된다. 끝까지 같은 대답만 반복하게 둘 것.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9248" y="4809744"/>
            <a:ext cx="3694176" cy="1261872"/>
          </a:xfrm>
          <a:prstGeom prst="roundRect">
            <a:avLst>
              <a:gd name="adj" fmla="val 6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4901183"/>
            <a:ext cx="347472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30" b="1" i="0">
                <a:solidFill>
                  <a:srgbClr val="F4F1EA"/>
                </a:solidFill>
                <a:latin typeface="Malgun Gothic"/>
                <a:ea typeface="Malgun Gothic"/>
              </a:rPr>
              <a:t>03  개념어 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5193792"/>
            <a:ext cx="3474720" cy="84124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AFB8C6"/>
                </a:solidFill>
                <a:latin typeface="Malgun Gothic"/>
                <a:ea typeface="Malgun Gothic"/>
              </a:rPr>
              <a:t>‘1차 긍정 · 투사 · 동어반복 · 자아의 죽음’은 본문에 쓰지 않는다. 숫자, UI 문구, 이마 안쪽의 통증으로만.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310896"/>
            <a:ext cx="10789920" cy="219456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CE942C"/>
                </a:solidFill>
                <a:latin typeface="Malgun Gothic"/>
                <a:ea typeface="Malgun Gothic"/>
              </a:rPr>
              <a:t>07  |  DECISIONS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612647"/>
            <a:ext cx="10789920" cy="413918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F4F1EA"/>
                </a:solidFill>
                <a:latin typeface="Malgun Gothic"/>
                <a:ea typeface="Malgun Gothic"/>
              </a:rPr>
              <a:t>쓰기 전에 정할 세 가지, 그리고 첫 주에 쓸 한 장면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108862"/>
            <a:ext cx="10789920" cy="238252"/>
          </a:xfrm>
          <a:prstGeom prst="rect">
            <a:avLst/>
          </a:prstGeom>
          <a:noFill/>
        </p:spPr>
        <p:txBody>
          <a:bodyPr wrap="square" anchor="t" lIns="18288" rIns="18288" tIns="12801" bIns="12801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AFB8C6"/>
                </a:solidFill>
                <a:latin typeface="Malgun Gothic"/>
                <a:ea typeface="Malgun Gothic"/>
              </a:rPr>
              <a:t>추천안을 붙여 두었다. 작가의 판단이 다르면 그쪽이 맞다.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84048"/>
            <a:ext cx="73152" cy="880770"/>
          </a:xfrm>
          <a:prstGeom prst="rect">
            <a:avLst/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0266"/>
            <a:ext cx="11000232" cy="13716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1000232" cy="10972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73152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828A96"/>
                </a:solidFill>
                <a:latin typeface="Malgun Gothic"/>
                <a:ea typeface="Malgun Gothic"/>
              </a:rPr>
              <a:t>《캐시의 도시》 발전 기획서  |  기획안 02 심화 ·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6492240"/>
            <a:ext cx="1828800" cy="237744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r">
              <a:lnSpc>
                <a:spcPct val="125000"/>
              </a:lnSpc>
            </a:pPr>
            <a:r>
              <a:rPr sz="919" b="1" i="0">
                <a:solidFill>
                  <a:srgbClr val="CE942C"/>
                </a:solidFill>
                <a:latin typeface="Malgun Gothic"/>
                <a:ea typeface="Malgun Gothic"/>
              </a:rPr>
              <a:t>08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63040"/>
            <a:ext cx="3575304" cy="2788920"/>
          </a:xfrm>
          <a:prstGeom prst="roundRect">
            <a:avLst>
              <a:gd name="adj" fmla="val 4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91056"/>
            <a:ext cx="3200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AFB8C6"/>
                </a:solidFill>
                <a:latin typeface="Malgun Gothic"/>
                <a:ea typeface="Malgun Gothic"/>
              </a:rPr>
              <a:t>결정 1  ·  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01952"/>
            <a:ext cx="3209544" cy="402336"/>
          </a:xfrm>
          <a:prstGeom prst="roundRect">
            <a:avLst>
              <a:gd name="adj" fmla="val 20000"/>
            </a:avLst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01952"/>
            <a:ext cx="3209544" cy="402336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</a:rPr>
              <a:t>추천  3인칭 제한 (진우)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32304"/>
            <a:ext cx="3209544" cy="10241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940" b="0" i="0">
                <a:solidFill>
                  <a:srgbClr val="F4F1EA"/>
                </a:solidFill>
                <a:latin typeface="Malgun Gothic"/>
                <a:ea typeface="Malgun Gothic"/>
              </a:rPr>
              <a:t>헤아림의 파란 자막을 서술 사이에 인용처럼 끼워 넣을 수 있고, 진우보다 독자가 먼저 눈치채는 아이러니가 생긴다.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3209544" cy="7132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AFB8C6"/>
                </a:solidFill>
                <a:latin typeface="Malgun Gothic"/>
                <a:ea typeface="Malgun Gothic"/>
              </a:rPr>
              <a:t>대안: 1인칭 → 몰입은 강하지만 S6의 자기 로그 반전이 약해진다.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463040"/>
            <a:ext cx="3575304" cy="2788920"/>
          </a:xfrm>
          <a:prstGeom prst="roundRect">
            <a:avLst>
              <a:gd name="adj" fmla="val 4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1591056"/>
            <a:ext cx="3200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AFB8C6"/>
                </a:solidFill>
                <a:latin typeface="Malgun Gothic"/>
                <a:ea typeface="Malgun Gothic"/>
              </a:rPr>
              <a:t>결정 2  ·  아버지 공개 시점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9704" y="1901952"/>
            <a:ext cx="3209544" cy="402336"/>
          </a:xfrm>
          <a:prstGeom prst="roundRect">
            <a:avLst>
              <a:gd name="adj" fmla="val 20000"/>
            </a:avLst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1901952"/>
            <a:ext cx="3209544" cy="402336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</a:rPr>
              <a:t>추천  S4 (유품 서류)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432304"/>
            <a:ext cx="3209544" cy="10241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940" b="0" i="0">
                <a:solidFill>
                  <a:srgbClr val="F4F1EA"/>
                </a:solidFill>
                <a:latin typeface="Malgun Gothic"/>
                <a:ea typeface="Malgun Gothic"/>
              </a:rPr>
              <a:t>추적의 동력이 ‘직업’에서 ‘자기 자신’으로 바뀌는 지점. 중반 이후는 그 사실을 견디는 이야기가 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474720"/>
            <a:ext cx="3209544" cy="7132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AFB8C6"/>
                </a:solidFill>
                <a:latin typeface="Malgun Gothic"/>
                <a:ea typeface="Malgun Gothic"/>
              </a:rPr>
              <a:t>대안: S6까지 미루고 S4에선 암시만 → 반전은 커지지만 S5가 헐거워진다.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9288" y="1463040"/>
            <a:ext cx="3575304" cy="2788920"/>
          </a:xfrm>
          <a:prstGeom prst="roundRect">
            <a:avLst>
              <a:gd name="adj" fmla="val 4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7" y="1591056"/>
            <a:ext cx="3200400" cy="2560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AFB8C6"/>
                </a:solidFill>
                <a:latin typeface="Malgun Gothic"/>
                <a:ea typeface="Malgun Gothic"/>
              </a:rPr>
              <a:t>결정 3  ·  형식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2167" y="1901952"/>
            <a:ext cx="3209544" cy="402336"/>
          </a:xfrm>
          <a:prstGeom prst="roundRect">
            <a:avLst>
              <a:gd name="adj" fmla="val 20000"/>
            </a:avLst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7" y="1901952"/>
            <a:ext cx="3209544" cy="402336"/>
          </a:xfrm>
          <a:prstGeom prst="rect">
            <a:avLst/>
          </a:prstGeom>
          <a:noFill/>
        </p:spPr>
        <p:txBody>
          <a:bodyPr wrap="square" anchor="ctr" lIns="9144" rIns="9144" tIns="6400" bIns="6400">
            <a:no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</a:rPr>
              <a:t>추천  단편 90매로 먼저 완성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7" y="2432304"/>
            <a:ext cx="3209544" cy="102412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30000"/>
              </a:lnSpc>
            </a:pPr>
            <a:r>
              <a:rPr sz="940" b="0" i="0">
                <a:solidFill>
                  <a:srgbClr val="F4F1EA"/>
                </a:solidFill>
                <a:latin typeface="Malgun Gothic"/>
                <a:ea typeface="Malgun Gothic"/>
              </a:rPr>
              <a:t>엔진(이상 신호 원리 + 응답 없음 결말)이 작동하는지 가장 싸게 확인하는 방법.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7" y="3474720"/>
            <a:ext cx="3209544" cy="713232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AFB8C6"/>
                </a:solidFill>
                <a:latin typeface="Malgun Gothic"/>
                <a:ea typeface="Malgun Gothic"/>
              </a:rPr>
              <a:t>확장 시: 윤해 시점의 2부, 다른 노인들의 로그로 연작 · 장편화.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434840"/>
            <a:ext cx="10972800" cy="2743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E942C"/>
                </a:solidFill>
                <a:latin typeface="Malgun Gothic"/>
                <a:ea typeface="Malgun Gothic"/>
              </a:rPr>
              <a:t>4주 계획 (기존 제안서 로드맵에 맞춤)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91456"/>
            <a:ext cx="2633472" cy="14813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791456"/>
            <a:ext cx="2633472" cy="64008"/>
          </a:xfrm>
          <a:prstGeom prst="rect">
            <a:avLst/>
          </a:prstGeom>
          <a:solidFill>
            <a:srgbClr val="C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4937760"/>
            <a:ext cx="23774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24E2A"/>
                </a:solidFill>
                <a:latin typeface="Malgun Gothic"/>
                <a:ea typeface="Malgun Gothic"/>
              </a:rPr>
              <a:t>WEEK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5175504"/>
            <a:ext cx="2377440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F4F1EA"/>
                </a:solidFill>
                <a:latin typeface="Malgun Gothic"/>
                <a:ea typeface="Malgun Gothic"/>
              </a:rPr>
              <a:t>S5부터 초고 14매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5504688"/>
            <a:ext cx="2377440" cy="7315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AFB8C6"/>
                </a:solidFill>
                <a:latin typeface="Malgun Gothic"/>
                <a:ea typeface="Malgun Gothic"/>
              </a:rPr>
              <a:t>소설의 엔진. 이 장면이 서면 나머지가 따라온다.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64991" y="4791456"/>
            <a:ext cx="2633472" cy="14813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64991" y="4791456"/>
            <a:ext cx="2633472" cy="64008"/>
          </a:xfrm>
          <a:prstGeom prst="rect">
            <a:avLst/>
          </a:prstGeom>
          <a:solidFill>
            <a:srgbClr val="CE9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1296" y="4937760"/>
            <a:ext cx="23774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E942C"/>
                </a:solidFill>
                <a:latin typeface="Malgun Gothic"/>
                <a:ea typeface="Malgun Gothic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1296" y="5175504"/>
            <a:ext cx="2377440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F4F1EA"/>
                </a:solidFill>
                <a:latin typeface="Malgun Gothic"/>
                <a:ea typeface="Malgun Gothic"/>
              </a:rPr>
              <a:t>8장면 카드 확정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1296" y="5504688"/>
            <a:ext cx="2377440" cy="7315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AFB8C6"/>
                </a:solidFill>
                <a:latin typeface="Malgun Gothic"/>
                <a:ea typeface="Malgun Gothic"/>
              </a:rPr>
              <a:t>S5에서 알게 된 것으로 앞뒤 장면을 다시 맞춘다.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35624" y="4791456"/>
            <a:ext cx="2633472" cy="14813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35624" y="4791456"/>
            <a:ext cx="2633472" cy="64008"/>
          </a:xfrm>
          <a:prstGeom prst="rect">
            <a:avLst/>
          </a:prstGeom>
          <a:solidFill>
            <a:srgbClr val="2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4937760"/>
            <a:ext cx="23774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2A6866"/>
                </a:solidFill>
                <a:latin typeface="Malgun Gothic"/>
                <a:ea typeface="Malgun Gothic"/>
              </a:rPr>
              <a:t>WEEK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1928" y="5175504"/>
            <a:ext cx="2377440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F4F1EA"/>
                </a:solidFill>
                <a:latin typeface="Malgun Gothic"/>
                <a:ea typeface="Malgun Gothic"/>
              </a:rPr>
              <a:t>초고 완주 90매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1928" y="5504688"/>
            <a:ext cx="2377440" cy="7315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AFB8C6"/>
                </a:solidFill>
                <a:latin typeface="Malgun Gothic"/>
                <a:ea typeface="Malgun Gothic"/>
              </a:rPr>
              <a:t>하루 15매 × 6일. 설명이 길어지면 진우의 손으로 돌아간다.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4791456"/>
            <a:ext cx="2633472" cy="1481328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06256" y="4791456"/>
            <a:ext cx="2633472" cy="64008"/>
          </a:xfrm>
          <a:prstGeom prst="rect">
            <a:avLst/>
          </a:prstGeom>
          <a:solidFill>
            <a:srgbClr val="3A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4937760"/>
            <a:ext cx="2377440" cy="219456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3A528A"/>
                </a:solidFill>
                <a:latin typeface="Malgun Gothic"/>
                <a:ea typeface="Malgun Gothic"/>
              </a:rPr>
              <a:t>WEEK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5175504"/>
            <a:ext cx="2377440" cy="292608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F4F1EA"/>
                </a:solidFill>
                <a:latin typeface="Malgun Gothic"/>
                <a:ea typeface="Malgun Gothic"/>
              </a:rPr>
              <a:t>개념어 솎아내기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5504688"/>
            <a:ext cx="2377440" cy="731520"/>
          </a:xfrm>
          <a:prstGeom prst="rect">
            <a:avLst/>
          </a:prstGeom>
          <a:noFill/>
        </p:spPr>
        <p:txBody>
          <a:bodyPr wrap="square" anchor="t" lIns="9144" rIns="9144" tIns="6400" bIns="640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AFB8C6"/>
                </a:solidFill>
                <a:latin typeface="Malgun Gothic"/>
                <a:ea typeface="Malgun Gothic"/>
              </a:rPr>
              <a:t>‘캐시 · 사고 · 자아’를 검색해 절반을 사물과 숫자로.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