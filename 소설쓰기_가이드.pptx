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6032"/>
            <a:ext cx="5532120" cy="4425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960120"/>
            <a:ext cx="3063240" cy="347472"/>
          </a:xfrm>
          <a:prstGeom prst="roundRect">
            <a:avLst>
              <a:gd name="adj" fmla="val 45000"/>
            </a:avLst>
          </a:prstGeom>
          <a:solidFill>
            <a:srgbClr val="262F40"/>
          </a:solidFill>
          <a:ln w="15240">
            <a:solidFill>
              <a:srgbClr val="D19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3063240" cy="347472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D19830"/>
                </a:solidFill>
                <a:latin typeface="Noto Sans CJK KR"/>
                <a:ea typeface="Noto Sans CJK KR"/>
              </a:rPr>
              <a:t>CREATIVE WRITING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5669280" cy="169164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F2EFE9"/>
                </a:solidFill>
                <a:latin typeface="Noto Sans CJK KR"/>
                <a:ea typeface="Noto Sans CJK KR"/>
              </a:rPr>
              <a:t>매혹적인
소설 쓰기의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337560"/>
            <a:ext cx="1463040" cy="64008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84448"/>
            <a:ext cx="5486400" cy="86868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2BAC6"/>
                </a:solidFill>
                <a:latin typeface="Noto Sans CJK KR"/>
                <a:ea typeface="Noto Sans CJK KR"/>
              </a:rPr>
              <a:t>아이디어의 첫 불꽃부터 마지막 문장의 퇴고까지,
독자의 밤을 빼앗는 서사 설계의 10가지 핵심 원칙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98348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983480"/>
            <a:ext cx="2514600" cy="54864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5111496"/>
            <a:ext cx="21945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D19830"/>
                </a:solidFill>
                <a:latin typeface="Noto Sans CJK KR"/>
                <a:ea typeface="Noto Sans CJK KR"/>
              </a:rPr>
              <a:t>PART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385816"/>
            <a:ext cx="21945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발상과 캐릭터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5769864"/>
            <a:ext cx="2194560" cy="3474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2BAC6"/>
                </a:solidFill>
                <a:latin typeface="Noto Sans CJK KR"/>
                <a:ea typeface="Noto Sans CJK KR"/>
              </a:rPr>
              <a:t>로그라인 · 욕망과 결핍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98348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983480"/>
            <a:ext cx="2514600" cy="54864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5111496"/>
            <a:ext cx="21945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D19830"/>
                </a:solidFill>
                <a:latin typeface="Noto Sans CJK KR"/>
                <a:ea typeface="Noto Sans CJK KR"/>
              </a:rPr>
              <a:t>PART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5385816"/>
            <a:ext cx="21945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플롯과 갈등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5769864"/>
            <a:ext cx="2194560" cy="3474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2BAC6"/>
                </a:solidFill>
                <a:latin typeface="Noto Sans CJK KR"/>
                <a:ea typeface="Noto Sans CJK KR"/>
              </a:rPr>
              <a:t>3막 구조 · 씬의 역학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98348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983480"/>
            <a:ext cx="2514600" cy="54864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5111496"/>
            <a:ext cx="21945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D19830"/>
                </a:solidFill>
                <a:latin typeface="Noto Sans CJK KR"/>
                <a:ea typeface="Noto Sans CJK KR"/>
              </a:rPr>
              <a:t>PART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5385816"/>
            <a:ext cx="21945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시점과 문체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5769864"/>
            <a:ext cx="2194560" cy="3474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2BAC6"/>
                </a:solidFill>
                <a:latin typeface="Noto Sans CJK KR"/>
                <a:ea typeface="Noto Sans CJK KR"/>
              </a:rPr>
              <a:t>POV · Show, Don't Tell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98348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4983480"/>
            <a:ext cx="2514600" cy="54864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5111496"/>
            <a:ext cx="21945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D19830"/>
                </a:solidFill>
                <a:latin typeface="Noto Sans CJK KR"/>
                <a:ea typeface="Noto Sans CJK KR"/>
              </a:rPr>
              <a:t>PART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5385816"/>
            <a:ext cx="21945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퇴고와 완성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5769864"/>
            <a:ext cx="2194560" cy="3474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2BAC6"/>
                </a:solidFill>
                <a:latin typeface="Noto Sans CJK KR"/>
                <a:ea typeface="Noto Sans CJK KR"/>
              </a:rPr>
              <a:t>3단계 수정 · 작가 루틴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01  |  FICTION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완성도 높은 소설은 소재·인물·플롯·문체의 4대 축으로 작동한다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네 가지 기둥 중 하나라도 무너지면 서사의 설득력이 급격히 약화된다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63040"/>
            <a:ext cx="539496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63040"/>
            <a:ext cx="91440" cy="2048256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" y="1627632"/>
            <a:ext cx="512064" cy="402336"/>
          </a:xfrm>
          <a:prstGeom prst="roundRect">
            <a:avLst>
              <a:gd name="adj" fmla="val 15000"/>
            </a:avLst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627632"/>
            <a:ext cx="512064" cy="40233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1591056"/>
            <a:ext cx="438912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A212E"/>
                </a:solidFill>
                <a:latin typeface="Noto Sans CJK KR"/>
                <a:ea typeface="Noto Sans CJK KR"/>
              </a:rPr>
              <a:t>매혹적인 전제 (Premise)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874520"/>
            <a:ext cx="438912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C6532D"/>
                </a:solidFill>
                <a:latin typeface="Noto Sans CJK KR"/>
                <a:ea typeface="Noto Sans CJK KR"/>
              </a:rPr>
              <a:t>호기심을 점화하는 '만약에(What if?)'의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176272"/>
            <a:ext cx="4983480" cy="86868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i="0">
                <a:solidFill>
                  <a:srgbClr val="555E6C"/>
                </a:solidFill>
                <a:latin typeface="Noto Sans CJK KR"/>
                <a:ea typeface="Noto Sans CJK KR"/>
              </a:rPr>
              <a:t>• 익숙한 일상 속 낯선 균열을 포착해 독자의 질문을 유도
• 단순한 설정 나열이 아닌 주인공이 겪을 윤리적·현실적 딜레마 내포
• 한 문장의 로그라인으로 압축될 때 서사의 방향성이 흔들리지 않음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" y="3072384"/>
            <a:ext cx="5029200" cy="329184"/>
          </a:xfrm>
          <a:prstGeom prst="roundRect">
            <a:avLst>
              <a:gd name="adj" fmla="val 10000"/>
            </a:avLst>
          </a:prstGeom>
          <a:solidFill>
            <a:srgbClr val="FA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081528"/>
            <a:ext cx="4846320" cy="310896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1A212E"/>
                </a:solidFill>
                <a:latin typeface="Noto Sans CJK KR"/>
                <a:ea typeface="Noto Sans CJK KR"/>
              </a:rPr>
              <a:t>핵심 질문: 독자가 첫 페이지를 펼칠 이유는 무엇인가?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63040"/>
            <a:ext cx="539496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463040"/>
            <a:ext cx="91440" cy="2048256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1627632"/>
            <a:ext cx="512064" cy="402336"/>
          </a:xfrm>
          <a:prstGeom prst="roundRect">
            <a:avLst>
              <a:gd name="adj" fmla="val 15000"/>
            </a:avLst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1627632"/>
            <a:ext cx="512064" cy="40233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591056"/>
            <a:ext cx="438912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A212E"/>
                </a:solidFill>
                <a:latin typeface="Noto Sans CJK KR"/>
                <a:ea typeface="Noto Sans CJK KR"/>
              </a:rPr>
              <a:t>입체적 인물 (Character)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874520"/>
            <a:ext cx="438912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316B69"/>
                </a:solidFill>
                <a:latin typeface="Noto Sans CJK KR"/>
                <a:ea typeface="Noto Sans CJK KR"/>
              </a:rPr>
              <a:t>욕망(Want)과 결핍(Need)이 충돌하는 살아있는 주체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176272"/>
            <a:ext cx="4983480" cy="86868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i="0">
                <a:solidFill>
                  <a:srgbClr val="555E6C"/>
                </a:solidFill>
                <a:latin typeface="Noto Sans CJK KR"/>
                <a:ea typeface="Noto Sans CJK KR"/>
              </a:rPr>
              <a:t>• 완벽한 영웅보다 결함과 모순을 지닌 인물에게 독자가 감정이입
• 외면적 목표를 추구하는 과정에서 내면의 거짓 믿음이 깨지는 성장
• 주인공의 약점을 정확히 파고드는 대립자(Antagonist)와의 상호작용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72384"/>
            <a:ext cx="5029200" cy="329184"/>
          </a:xfrm>
          <a:prstGeom prst="roundRect">
            <a:avLst>
              <a:gd name="adj" fmla="val 10000"/>
            </a:avLst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81528"/>
            <a:ext cx="4846320" cy="310896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1A212E"/>
                </a:solidFill>
                <a:latin typeface="Noto Sans CJK KR"/>
                <a:ea typeface="Noto Sans CJK KR"/>
              </a:rPr>
              <a:t>핵심 질문: 이 인물은 무엇을 간절히 원하며 무엇을 잃을까 두려워하는가?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675887"/>
            <a:ext cx="539496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675887"/>
            <a:ext cx="91440" cy="2048256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" y="3840479"/>
            <a:ext cx="512064" cy="402336"/>
          </a:xfrm>
          <a:prstGeom prst="roundRect">
            <a:avLst>
              <a:gd name="adj" fmla="val 15000"/>
            </a:avLst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3840479"/>
            <a:ext cx="512064" cy="40233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3803903"/>
            <a:ext cx="438912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A212E"/>
                </a:solidFill>
                <a:latin typeface="Noto Sans CJK KR"/>
                <a:ea typeface="Noto Sans CJK KR"/>
              </a:rPr>
              <a:t>인과적 플롯 (Plot &amp; Conflict)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5" y="4087368"/>
            <a:ext cx="438912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D19830"/>
                </a:solidFill>
                <a:latin typeface="Noto Sans CJK KR"/>
                <a:ea typeface="Noto Sans CJK KR"/>
              </a:rPr>
              <a:t>'그리고'가 아닌 '그래서/그러나'로 연결된 사건의 사슬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4389120"/>
            <a:ext cx="4983480" cy="86868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i="0">
                <a:solidFill>
                  <a:srgbClr val="555E6C"/>
                </a:solidFill>
                <a:latin typeface="Noto Sans CJK KR"/>
                <a:ea typeface="Noto Sans CJK KR"/>
              </a:rPr>
              <a:t>• 우연에 기댄 해결(데우스 엑스 마키나)을 배제하고 인물의 선택으로 전개
• 점진적으로 판돈(Stakes)을 높여 주인공을 퇴로 없는 막다른 골목으로 압박
• 3막 구조의 5대 전환점을 통해 긴장과 이완의 서사적 리듬을 설계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" y="5285231"/>
            <a:ext cx="5029200" cy="329184"/>
          </a:xfrm>
          <a:prstGeom prst="roundRect">
            <a:avLst>
              <a:gd name="adj" fmla="val 1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294375"/>
            <a:ext cx="4846320" cy="310896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1A212E"/>
                </a:solidFill>
                <a:latin typeface="Noto Sans CJK KR"/>
                <a:ea typeface="Noto Sans CJK KR"/>
              </a:rPr>
              <a:t>핵심 질문: 이전 사건이 다음 사건을 필연적으로 강제하는가?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675887"/>
            <a:ext cx="539496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675887"/>
            <a:ext cx="91440" cy="2048256"/>
          </a:xfrm>
          <a:prstGeom prst="rect">
            <a:avLst/>
          </a:prstGeom>
          <a:solidFill>
            <a:srgbClr val="8E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37376" y="3840479"/>
            <a:ext cx="512064" cy="402336"/>
          </a:xfrm>
          <a:prstGeom prst="roundRect">
            <a:avLst>
              <a:gd name="adj" fmla="val 15000"/>
            </a:avLst>
          </a:prstGeom>
          <a:solidFill>
            <a:srgbClr val="8E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3840479"/>
            <a:ext cx="512064" cy="40233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803903"/>
            <a:ext cx="438912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A212E"/>
                </a:solidFill>
                <a:latin typeface="Noto Sans CJK KR"/>
                <a:ea typeface="Noto Sans CJK KR"/>
              </a:rPr>
              <a:t>감각적 장면과 문체 (Scene &amp; Voice)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087368"/>
            <a:ext cx="438912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8E3542"/>
                </a:solidFill>
                <a:latin typeface="Noto Sans CJK KR"/>
                <a:ea typeface="Noto Sans CJK KR"/>
              </a:rPr>
              <a:t>요약 설명(Tell)을 넘어 현장을 체험하게 하는 묘사(Show)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389120"/>
            <a:ext cx="4983480" cy="868680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i="0">
                <a:solidFill>
                  <a:srgbClr val="555E6C"/>
                </a:solidFill>
                <a:latin typeface="Noto Sans CJK KR"/>
                <a:ea typeface="Noto Sans CJK KR"/>
              </a:rPr>
              <a:t>• 오감의 디테일과 구체적 행동으로 인물의 감정선을 시각화
• 인물의 성격과 관계의 권력 구도가 묻어나는 입체적인 대사 설계
• 불필요한 수식어를 덜어내고 장면의 속도에 맞춘 문장 호흡 조율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85231"/>
            <a:ext cx="5029200" cy="329184"/>
          </a:xfrm>
          <a:prstGeom prst="roundRect">
            <a:avLst>
              <a:gd name="adj" fmla="val 10000"/>
            </a:avLst>
          </a:prstGeom>
          <a:solidFill>
            <a:srgbClr val="FA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294375"/>
            <a:ext cx="4846320" cy="310896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1A212E"/>
                </a:solidFill>
                <a:latin typeface="Noto Sans CJK KR"/>
                <a:ea typeface="Noto Sans CJK KR"/>
              </a:rPr>
              <a:t>핵심 질문: 독자의 머릿속에 이 장면이 영화처럼 그려지는가?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870448"/>
            <a:ext cx="11000232" cy="438912"/>
          </a:xfrm>
          <a:prstGeom prst="roundRect">
            <a:avLst>
              <a:gd name="adj" fmla="val 8000"/>
            </a:avLst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870448"/>
            <a:ext cx="10607040" cy="438912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2EFE9"/>
                </a:solidFill>
                <a:latin typeface="Noto Sans CJK KR"/>
                <a:ea typeface="Noto Sans CJK KR"/>
              </a:rPr>
              <a:t>핵심 공식:  매력적인 소재(Premise)가 독자를 부르고, 입체적인 인물(Character)이 페이지를 넘기게 하며, 단단한 플롯과 문체가 여운을 완성한다.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02  |  IDEA &amp; LOGLINE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막연한 소재를 한 문장의 로그라인(Logline)으로 압축해 서사의 나침반을 세운다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좋은 로그라인은 주인공, 촉발 사건, 핵심 목표, 그리고 실패 시 치러야 할 대가(Stakes)를 명확히 보여준다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26464"/>
            <a:ext cx="11000232" cy="1389888"/>
          </a:xfrm>
          <a:prstGeom prst="roundRect">
            <a:avLst>
              <a:gd name="adj" fmla="val 4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99616"/>
            <a:ext cx="36576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6532D"/>
                </a:solidFill>
                <a:latin typeface="Noto Sans CJK KR"/>
                <a:ea typeface="Noto Sans CJK KR"/>
              </a:rPr>
              <a:t>강력한 로그라인의 4요소 공식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1810512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20240"/>
            <a:ext cx="2212848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212E"/>
                </a:solidFill>
                <a:latin typeface="Noto Sans CJK KR"/>
                <a:ea typeface="Noto Sans CJK KR"/>
              </a:rPr>
              <a:t>1. 결핍을 지닌 주인공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231136"/>
            <a:ext cx="2212848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5E6C"/>
                </a:solidFill>
                <a:latin typeface="Noto Sans CJK KR"/>
                <a:ea typeface="Noto Sans CJK KR"/>
              </a:rPr>
              <a:t>어떤 약점·상황에 처한 인물이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029967"/>
            <a:ext cx="219456" cy="365760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C6532D"/>
                </a:solidFill>
                <a:latin typeface="Noto Sans CJK KR"/>
                <a:ea typeface="Noto Sans CJK KR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1810512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920240"/>
            <a:ext cx="2212848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212E"/>
                </a:solidFill>
                <a:latin typeface="Noto Sans CJK KR"/>
                <a:ea typeface="Noto Sans CJK KR"/>
              </a:rPr>
              <a:t>2. 촉발 사건 (Inciting)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231136"/>
            <a:ext cx="2212848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5E6C"/>
                </a:solidFill>
                <a:latin typeface="Noto Sans CJK KR"/>
                <a:ea typeface="Noto Sans CJK KR"/>
              </a:rPr>
              <a:t>예기치 못한 사건을 겪은 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029967"/>
            <a:ext cx="219456" cy="365760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C6532D"/>
                </a:solidFill>
                <a:latin typeface="Noto Sans CJK KR"/>
                <a:ea typeface="Noto Sans CJK KR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810512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920240"/>
            <a:ext cx="2212848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212E"/>
                </a:solidFill>
                <a:latin typeface="Noto Sans CJK KR"/>
                <a:ea typeface="Noto Sans CJK KR"/>
              </a:rPr>
              <a:t>3. 핵심 목표와 대립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231136"/>
            <a:ext cx="2212848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5E6C"/>
                </a:solidFill>
                <a:latin typeface="Noto Sans CJK KR"/>
                <a:ea typeface="Noto Sans CJK KR"/>
              </a:rPr>
              <a:t>강력한 적수/장애물에 맞서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2029967"/>
            <a:ext cx="219456" cy="365760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C6532D"/>
                </a:solidFill>
                <a:latin typeface="Noto Sans CJK KR"/>
                <a:ea typeface="Noto Sans CJK KR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10512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AECE6"/>
          </a:solidFill>
          <a:ln w="1524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1920240"/>
            <a:ext cx="2212848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6532D"/>
                </a:solidFill>
                <a:latin typeface="Noto Sans CJK KR"/>
                <a:ea typeface="Noto Sans CJK KR"/>
              </a:rPr>
              <a:t>4. 치명적 대가 (Stakes)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2231136"/>
            <a:ext cx="2212848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5E6C"/>
                </a:solidFill>
                <a:latin typeface="Noto Sans CJK KR"/>
                <a:ea typeface="Noto Sans CJK KR"/>
              </a:rPr>
              <a:t>무엇을 걸고 싸우는가?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962656"/>
            <a:ext cx="1097280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A212E"/>
                </a:solidFill>
                <a:latin typeface="Noto Sans CJK KR"/>
                <a:ea typeface="Noto Sans CJK KR"/>
              </a:rPr>
              <a:t>실전 변환 예시: 추상적 소재에서 구체적 로그라인으로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28416"/>
            <a:ext cx="3794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01568"/>
            <a:ext cx="3520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878E99"/>
                </a:solidFill>
                <a:latin typeface="Noto Sans CJK KR"/>
                <a:ea typeface="Noto Sans CJK KR"/>
              </a:rPr>
              <a:t>[막연한 소재]  장르 01 · 미스터리 스릴러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657600"/>
            <a:ext cx="3520440" cy="45720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E6C"/>
                </a:solidFill>
                <a:latin typeface="Noto Sans CJK KR"/>
                <a:ea typeface="Noto Sans CJK KR"/>
              </a:rPr>
              <a:t>“기억상실증에 걸린 형사가 살인사건을 수사하는 이야기”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566160"/>
            <a:ext cx="384048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9744" y="3328416"/>
            <a:ext cx="6784848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09744" y="3328416"/>
            <a:ext cx="82296" cy="877824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92624" y="3401568"/>
            <a:ext cx="384048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C6532D"/>
                </a:solidFill>
                <a:latin typeface="Noto Sans CJK KR"/>
                <a:ea typeface="Noto Sans CJK KR"/>
              </a:rPr>
              <a:t>[완성된 로그라인]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3401568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A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3401568"/>
            <a:ext cx="254203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6532D"/>
                </a:solidFill>
                <a:latin typeface="Noto Sans CJK KR"/>
                <a:ea typeface="Noto Sans CJK KR"/>
              </a:rPr>
              <a:t>제한 시간(24시간) + 아이러니(자신이 용의자)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624" y="3657600"/>
            <a:ext cx="644652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1" i="0">
                <a:solidFill>
                  <a:srgbClr val="1A212E"/>
                </a:solidFill>
                <a:latin typeface="Noto Sans CJK KR"/>
                <a:ea typeface="Noto Sans CJK KR"/>
              </a:rPr>
              <a:t>단기 기억이 24시간마다 초기화되는 강력계 형사가, 자신의 수첩에 적힌 마지막 용의자가 바로 자신임을 알게 되면서 기억이 사라지기 전에 진범을 찾아야 하는 사투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15968"/>
            <a:ext cx="3794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3520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878E99"/>
                </a:solidFill>
                <a:latin typeface="Noto Sans CJK KR"/>
                <a:ea typeface="Noto Sans CJK KR"/>
              </a:rPr>
              <a:t>[막연한 소재]  장르 02 · SF / 판타지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645152"/>
            <a:ext cx="3520440" cy="45720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E6C"/>
                </a:solidFill>
                <a:latin typeface="Noto Sans CJK KR"/>
                <a:ea typeface="Noto Sans CJK KR"/>
              </a:rPr>
              <a:t>“감정을 사고파는 미래 사회에서 벌어지는 청춘 드라마”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4553712"/>
            <a:ext cx="384048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9744" y="4315968"/>
            <a:ext cx="6784848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09744" y="4315968"/>
            <a:ext cx="82296" cy="877824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92624" y="4389120"/>
            <a:ext cx="384048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C6532D"/>
                </a:solidFill>
                <a:latin typeface="Noto Sans CJK KR"/>
                <a:ea typeface="Noto Sans CJK KR"/>
              </a:rPr>
              <a:t>[완성된 로그라인]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4389120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A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389120"/>
            <a:ext cx="254203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6532D"/>
                </a:solidFill>
                <a:latin typeface="Noto Sans CJK KR"/>
                <a:ea typeface="Noto Sans CJK KR"/>
              </a:rPr>
              <a:t>독창적 직업 + 개인적 절박함(실종된 동생)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2624" y="4645152"/>
            <a:ext cx="644652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1" i="0">
                <a:solidFill>
                  <a:srgbClr val="1A212E"/>
                </a:solidFill>
                <a:latin typeface="Noto Sans CJK KR"/>
                <a:ea typeface="Noto Sans CJK KR"/>
              </a:rPr>
              <a:t>타인의 슬픔을 대신 겪어주고 돈을 버는 ‘감정 대리인’ 청년이, 의뢰인의 지워진 기억 속에서 10년 전 실종된 여동생의 흔적을 발견하고 거대 기업의 금기를 추적하는 이야기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303520"/>
            <a:ext cx="3794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376672"/>
            <a:ext cx="3520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878E99"/>
                </a:solidFill>
                <a:latin typeface="Noto Sans CJK KR"/>
                <a:ea typeface="Noto Sans CJK KR"/>
              </a:rPr>
              <a:t>[막연한 소재]  장르 03 · 휴먼 / 가족 드라마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632704"/>
            <a:ext cx="3520440" cy="45720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E6C"/>
                </a:solidFill>
                <a:latin typeface="Noto Sans CJK KR"/>
                <a:ea typeface="Noto Sans CJK KR"/>
              </a:rPr>
              <a:t>“사이가 나쁜 모녀가 함께 여행을 떠나며 화해하는 소설”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5541264"/>
            <a:ext cx="384048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09744" y="5303520"/>
            <a:ext cx="6784848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09744" y="5303520"/>
            <a:ext cx="82296" cy="877824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92624" y="5376672"/>
            <a:ext cx="384048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1" i="0">
                <a:solidFill>
                  <a:srgbClr val="C6532D"/>
                </a:solidFill>
                <a:latin typeface="Noto Sans CJK KR"/>
                <a:ea typeface="Noto Sans CJK KR"/>
              </a:rPr>
              <a:t>[완성된 로그라인]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15400" y="5376672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A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5376672"/>
            <a:ext cx="254203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6532D"/>
                </a:solidFill>
                <a:latin typeface="Noto Sans CJK KR"/>
                <a:ea typeface="Noto Sans CJK KR"/>
              </a:rPr>
              <a:t>강제적 동행(유언 조건) + 내면적 화해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2624" y="5632704"/>
            <a:ext cx="644652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1" i="0">
                <a:solidFill>
                  <a:srgbClr val="1A212E"/>
                </a:solidFill>
                <a:latin typeface="Noto Sans CJK KR"/>
                <a:ea typeface="Noto Sans CJK KR"/>
              </a:rPr>
              <a:t>평생 연락을 끊고 살던 어머니의 유언장 조건 때문에, 빚더미에 오른 딸이 어머니의 첫사랑을 찾아 일주일간 동행하며 몰랐던 어머니의 청춘과 마주하는 여정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03  |  CHARACTER PSYCHOLOGY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독자가 사랑하는 인물은 외면적 목표(Want)와 내면적 결핍(Need)의 간극에서 탄생한다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인물의 프로필을 나열하는 대신, 과거의 상처(Ghost)가 만든 거짓 믿음(Lie)과 행동 동기를 설계하라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26464"/>
            <a:ext cx="4892040" cy="4864608"/>
          </a:xfrm>
          <a:prstGeom prst="roundRect">
            <a:avLst>
              <a:gd name="adj" fmla="val 3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452628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212E"/>
                </a:solidFill>
                <a:latin typeface="Noto Sans CJK KR"/>
                <a:ea typeface="Noto Sans CJK KR"/>
              </a:rPr>
              <a:t>인물 설계의 빙산 모델 (Character Iceberg)</a:t>
            </a:r>
          </a:p>
        </p:txBody>
      </p:sp>
      <p:pic>
        <p:nvPicPr>
          <p:cNvPr id="12" name="Picture 11" descr="character_icebe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7088"/>
            <a:ext cx="4617720" cy="422191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87568" y="1426464"/>
            <a:ext cx="590702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1426464"/>
            <a:ext cx="82296" cy="914400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517904"/>
            <a:ext cx="557784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212E"/>
                </a:solidFill>
                <a:latin typeface="Noto Sans CJK KR"/>
                <a:ea typeface="Noto Sans CJK KR"/>
              </a:rPr>
              <a:t>욕망(Want) vs 필요(Need)의 충돌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1792224"/>
            <a:ext cx="557784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주인공은 눈에 보이는 목표(성공·복수·탈출)를 향해 달리지만, 결말에 이르러 자신이 진짜 필요했던 것(신뢰·용서·진실)을 깨닫고 변화한다.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2450592"/>
            <a:ext cx="590702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87568" y="2450592"/>
            <a:ext cx="82296" cy="914400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2542032"/>
            <a:ext cx="557784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212E"/>
                </a:solidFill>
                <a:latin typeface="Noto Sans CJK KR"/>
                <a:ea typeface="Noto Sans CJK KR"/>
              </a:rPr>
              <a:t>적대자(Antagonist)는 주인공의 거울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2816352"/>
            <a:ext cx="557784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최고의 악역은 스스로를 선이라고 믿는 인물이다. 주인공과 같은 문제에 직면했지만 정반대의 선택을 한 그림자로 설계할 때 대립이 깊어진다.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7568" y="3474720"/>
            <a:ext cx="590702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87568" y="3474720"/>
            <a:ext cx="82296" cy="914400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3566160"/>
            <a:ext cx="557784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212E"/>
                </a:solidFill>
                <a:latin typeface="Noto Sans CJK KR"/>
                <a:ea typeface="Noto Sans CJK KR"/>
              </a:rPr>
              <a:t>성격은 형용사가 아니라 ‘선택’으로 증명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8736" y="3840480"/>
            <a:ext cx="5577840" cy="49377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평화로운 순간의 친절함은 성격을 보여주지 못한다. 가장 소중한 두 가치 중 하나를 포기해야 하는 극한의 딜레마에서 내리는 선택이 진짜 캐릭터다.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7568" y="4535424"/>
            <a:ext cx="5907024" cy="1755648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4626864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D19830"/>
                </a:solidFill>
                <a:latin typeface="Noto Sans CJK KR"/>
                <a:ea typeface="Noto Sans CJK KR"/>
              </a:rPr>
              <a:t>실전 캐릭터 설계 시트 예시  —  &lt;폐기처분 복원가 ‘한서진’&gt;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8736" y="4956048"/>
            <a:ext cx="1691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EFE9"/>
                </a:solidFill>
                <a:latin typeface="Noto Sans CJK KR"/>
                <a:ea typeface="Noto Sans CJK KR"/>
              </a:rPr>
              <a:t>• 과거의 상처 (Ghost)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956048"/>
            <a:ext cx="388620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2BAC6"/>
                </a:solidFill>
                <a:latin typeface="Noto Sans CJK KR"/>
                <a:ea typeface="Noto Sans CJK KR"/>
              </a:rPr>
              <a:t>어린 시절 자신의 거짓말로 가족의 유품을 잃어버린 죄책감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8736" y="5266944"/>
            <a:ext cx="1691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EFE9"/>
                </a:solidFill>
                <a:latin typeface="Noto Sans CJK KR"/>
                <a:ea typeface="Noto Sans CJK KR"/>
              </a:rPr>
              <a:t>• 거짓 믿음 (The Lie)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266944"/>
            <a:ext cx="388620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2BAC6"/>
                </a:solidFill>
                <a:latin typeface="Noto Sans CJK KR"/>
                <a:ea typeface="Noto Sans CJK KR"/>
              </a:rPr>
              <a:t>“사람은 결국 배신하지만, 사물은 절대 거짓말을 하지 않는다.”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5577840"/>
            <a:ext cx="1691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EFE9"/>
                </a:solidFill>
                <a:latin typeface="Noto Sans CJK KR"/>
                <a:ea typeface="Noto Sans CJK KR"/>
              </a:rPr>
              <a:t>• 외면적 목표 (Want)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577840"/>
            <a:ext cx="388620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2BAC6"/>
                </a:solidFill>
                <a:latin typeface="Noto Sans CJK KR"/>
                <a:ea typeface="Noto Sans CJK KR"/>
              </a:rPr>
              <a:t>불타버린 고택의 미공개 유작을 완벽히 복원해 거액의 보수를 받는 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5888736"/>
            <a:ext cx="1691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EFE9"/>
                </a:solidFill>
                <a:latin typeface="Noto Sans CJK KR"/>
                <a:ea typeface="Noto Sans CJK KR"/>
              </a:rPr>
              <a:t>• 내면적 성장 (Need)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5888736"/>
            <a:ext cx="388620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2BAC6"/>
                </a:solidFill>
                <a:latin typeface="Noto Sans CJK KR"/>
                <a:ea typeface="Noto Sans CJK KR"/>
              </a:rPr>
              <a:t>완벽한 복원보다 남겨진 유가족의 상처를 보듬고 진실을 마주하는 용기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04  |  THREE-ACT STRUCTURE &amp; PLOT BEATS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3막 구조와 5대 전환점(Plot Beats)으로 독자가 책을 덮지 못하는 긴장감을 조율한다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서사의 황금 비율(1막 25% : 2막 50% : 3막 25%)을 통해 위기의 고조와 해소의 쾌감을 정교하게 배치한다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08176"/>
            <a:ext cx="11000232" cy="3072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ot_ar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10817352" cy="295018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4360" y="4626864"/>
            <a:ext cx="2112264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626864"/>
            <a:ext cx="2112264" cy="7315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54879"/>
            <a:ext cx="189280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6532D"/>
                </a:solidFill>
                <a:latin typeface="Noto Sans CJK KR"/>
                <a:ea typeface="Noto Sans CJK KR"/>
              </a:rPr>
              <a:t>① 촉발 사건 (12%)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010912"/>
            <a:ext cx="1892808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212E"/>
                </a:solidFill>
                <a:latin typeface="Noto Sans CJK KR"/>
                <a:ea typeface="Noto Sans CJK KR"/>
              </a:rPr>
              <a:t>일상의 균열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303520"/>
            <a:ext cx="1892808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55E6C"/>
                </a:solidFill>
                <a:latin typeface="Noto Sans CJK KR"/>
                <a:ea typeface="Noto Sans CJK KR"/>
              </a:rPr>
              <a:t>주인공의 평온한 일상을 깨뜨리고 이야기 속으로 호출하는 사건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4626864"/>
            <a:ext cx="2112264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5496" y="4626864"/>
            <a:ext cx="2112264" cy="73152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4754879"/>
            <a:ext cx="189280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16B69"/>
                </a:solidFill>
                <a:latin typeface="Noto Sans CJK KR"/>
                <a:ea typeface="Noto Sans CJK KR"/>
              </a:rPr>
              <a:t>② 1차 관문 (25%)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5010912"/>
            <a:ext cx="1892808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212E"/>
                </a:solidFill>
                <a:latin typeface="Noto Sans CJK KR"/>
                <a:ea typeface="Noto Sans CJK KR"/>
              </a:rPr>
              <a:t>돌아갈 다리 불태우기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5303520"/>
            <a:ext cx="1892808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55E6C"/>
                </a:solidFill>
                <a:latin typeface="Noto Sans CJK KR"/>
                <a:ea typeface="Noto Sans CJK KR"/>
              </a:rPr>
              <a:t>주인공이 기존 세계를 떠나 본격적인 모험·대립의 세계로 진입하는 결단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6632" y="4626864"/>
            <a:ext cx="2112264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56632" y="4626864"/>
            <a:ext cx="2112264" cy="73152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4754879"/>
            <a:ext cx="189280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D19830"/>
                </a:solidFill>
                <a:latin typeface="Noto Sans CJK KR"/>
                <a:ea typeface="Noto Sans CJK KR"/>
              </a:rPr>
              <a:t>③ 중간점 반전 (50%)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010912"/>
            <a:ext cx="1892808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212E"/>
                </a:solidFill>
                <a:latin typeface="Noto Sans CJK KR"/>
                <a:ea typeface="Noto Sans CJK KR"/>
              </a:rPr>
              <a:t>시야의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5303520"/>
            <a:ext cx="1892808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55E6C"/>
                </a:solidFill>
                <a:latin typeface="Noto Sans CJK KR"/>
                <a:ea typeface="Noto Sans CJK KR"/>
              </a:rPr>
              <a:t>숨겨진 진실이 드러나며 수동적 대응에서 능동적 공세로 전환되는 지점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4626864"/>
            <a:ext cx="2112264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87768" y="4626864"/>
            <a:ext cx="2112264" cy="73152"/>
          </a:xfrm>
          <a:prstGeom prst="rect">
            <a:avLst/>
          </a:prstGeom>
          <a:solidFill>
            <a:srgbClr val="8E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7496" y="4754879"/>
            <a:ext cx="189280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8E3542"/>
                </a:solidFill>
                <a:latin typeface="Noto Sans CJK KR"/>
                <a:ea typeface="Noto Sans CJK KR"/>
              </a:rPr>
              <a:t>④ 암흑의 순간 (75%)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5010912"/>
            <a:ext cx="1892808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212E"/>
                </a:solidFill>
                <a:latin typeface="Noto Sans CJK KR"/>
                <a:ea typeface="Noto Sans CJK KR"/>
              </a:rPr>
              <a:t>최악의 패배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5303520"/>
            <a:ext cx="1892808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55E6C"/>
                </a:solidFill>
                <a:latin typeface="Noto Sans CJK KR"/>
                <a:ea typeface="Noto Sans CJK KR"/>
              </a:rPr>
              <a:t>모든 계획이 무너지고 가장 소중한 것을 잃을 위기에 처하는 절망의 바닥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18904" y="4626864"/>
            <a:ext cx="2112264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18904" y="4626864"/>
            <a:ext cx="2112264" cy="73152"/>
          </a:xfrm>
          <a:prstGeom prst="rect">
            <a:avLst/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4754879"/>
            <a:ext cx="189280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212E"/>
                </a:solidFill>
                <a:latin typeface="Noto Sans CJK KR"/>
                <a:ea typeface="Noto Sans CJK KR"/>
              </a:rPr>
              <a:t>⑤ 클라이맥스 (90%)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5010912"/>
            <a:ext cx="1892808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212E"/>
                </a:solidFill>
                <a:latin typeface="Noto Sans CJK KR"/>
                <a:ea typeface="Noto Sans CJK KR"/>
              </a:rPr>
              <a:t>최후의 대결과 각성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5303520"/>
            <a:ext cx="1892808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55E6C"/>
                </a:solidFill>
                <a:latin typeface="Noto Sans CJK KR"/>
                <a:ea typeface="Noto Sans CJK KR"/>
              </a:rPr>
              <a:t>내면의 거짓 믿음을 극복한 주인공이 자신의 힘으로 핵심 갈등을 매듭짓는 순간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05  |  SCENE &amp; SEQUEL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모든 장면(Scene)은 목표·충돌·전환으로 전진하고 반추(Sequel)로 호흡을 조절한다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외면적 사건의 속도감(Scene)과 내면적 감정 소화(Sequel)를 교차 배치해 독자의 피로도를 막고 몰입을 깊게 만든다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26464"/>
            <a:ext cx="6812280" cy="4864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36192"/>
            <a:ext cx="640080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A212E"/>
                </a:solidFill>
                <a:latin typeface="Noto Sans CJK KR"/>
                <a:ea typeface="Noto Sans CJK KR"/>
              </a:rPr>
              <a:t>서사 전진의 양대 엔진: 장면(Scene)과 반추(Sequel)의 교차 리듬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1938528"/>
            <a:ext cx="6400800" cy="1965960"/>
          </a:xfrm>
          <a:prstGeom prst="roundRect">
            <a:avLst>
              <a:gd name="adj" fmla="val 4000"/>
            </a:avLst>
          </a:prstGeom>
          <a:solidFill>
            <a:srgbClr val="FAECE6"/>
          </a:solidFill>
          <a:ln w="1524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029968"/>
            <a:ext cx="60350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C6532D"/>
                </a:solidFill>
                <a:latin typeface="Noto Sans CJK KR"/>
                <a:ea typeface="Noto Sans CJK KR"/>
              </a:rPr>
              <a:t>ENGINE A  |  외면적 행동 장면 (Action Scene) — 사건을 발생시키고 긴장을 고조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237744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468880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1. 목표 (Goal)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79776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장면 시작 시 주인공이 원하는 구체적이고 가시적인 목적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37744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2468880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2. 충돌 (Conflict)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779776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목표 달성을 가로막는 상대방이나 환경과의 치열한 공방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37744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2468880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3. 전환/재난 (Disaster)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779776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‘예스, 하지만(Yes, but)’ 또는 ‘노, 심지어(No, and furthermore)’로 끝나는 위기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4078224"/>
            <a:ext cx="6400800" cy="1965960"/>
          </a:xfrm>
          <a:prstGeom prst="roundRect">
            <a:avLst>
              <a:gd name="adj" fmla="val 4000"/>
            </a:avLst>
          </a:prstGeom>
          <a:solidFill>
            <a:srgbClr val="E8F2F1"/>
          </a:solidFill>
          <a:ln w="15240">
            <a:solidFill>
              <a:srgbClr val="316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169663"/>
            <a:ext cx="60350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316B69"/>
                </a:solidFill>
                <a:latin typeface="Noto Sans CJK KR"/>
                <a:ea typeface="Noto Sans CJK KR"/>
              </a:rPr>
              <a:t>ENGINE B  |  내면적 반추 장면 (Reaction Sequel) — 감정을 납득시키고 다음 목표를 수립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" y="4517136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608576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1. 감정 반응 (Reaction)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919472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직전 장면의 재난/충격에 대한 인물의 정서적·신체적 여파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517136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248" y="4608576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2. 딜레마 (Dilemma)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4919472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나쁜 선택지들 사이에서 최악을 피하기 위해 고뇌하는 분석 과정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4517136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5504" y="4608576"/>
            <a:ext cx="1719072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1A212E"/>
                </a:solidFill>
                <a:latin typeface="Noto Sans CJK KR"/>
                <a:ea typeface="Noto Sans CJK KR"/>
              </a:rPr>
              <a:t>3. 새로운 결단 (Decision)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4919472"/>
            <a:ext cx="1719072" cy="87782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위험을 감수하고 다음 행동 장면(Scene)의 목표를 세우는 결심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07808" y="1426464"/>
            <a:ext cx="3986784" cy="3154680"/>
          </a:xfrm>
          <a:prstGeom prst="roundRect">
            <a:avLst>
              <a:gd name="adj" fmla="val 3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1536192"/>
            <a:ext cx="361188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212E"/>
                </a:solidFill>
                <a:latin typeface="Noto Sans CJK KR"/>
                <a:ea typeface="Noto Sans CJK KR"/>
              </a:rPr>
              <a:t>입체적 서사를 만드는 갈등의 3중 레이어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5" y="1938528"/>
            <a:ext cx="358444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08975" y="1938528"/>
            <a:ext cx="73152" cy="731520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011680"/>
            <a:ext cx="32918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C6532D"/>
                </a:solidFill>
                <a:latin typeface="Noto Sans CJK KR"/>
                <a:ea typeface="Noto Sans CJK KR"/>
              </a:rPr>
              <a:t>내적 갈등 (Inner)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249424"/>
            <a:ext cx="32918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양심 vs 욕망, 두려움 vs 의무 등 인물 내면의 심리적 분열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08975" y="2779776"/>
            <a:ext cx="358444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08975" y="2779776"/>
            <a:ext cx="73152" cy="731520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2852928"/>
            <a:ext cx="32918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316B69"/>
                </a:solidFill>
                <a:latin typeface="Noto Sans CJK KR"/>
                <a:ea typeface="Noto Sans CJK KR"/>
              </a:rPr>
              <a:t>대인 갈등 (Personal)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3090672"/>
            <a:ext cx="32918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연인·가족·동료·숙적과의 이해관계 충돌과 배신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08975" y="3621024"/>
            <a:ext cx="358444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08975" y="3621024"/>
            <a:ext cx="73152" cy="731520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3694176"/>
            <a:ext cx="32918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1" i="0">
                <a:solidFill>
                  <a:srgbClr val="D19830"/>
                </a:solidFill>
                <a:latin typeface="Noto Sans CJK KR"/>
                <a:ea typeface="Noto Sans CJK KR"/>
              </a:rPr>
              <a:t>환경/사회 갈등 (Extra)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3931920"/>
            <a:ext cx="32918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재난, 부조리한 제도, 시간 제한 등 거대한 외부 압력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07808" y="4736592"/>
            <a:ext cx="3986784" cy="155448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08975" y="4846320"/>
            <a:ext cx="3584448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D19830"/>
                </a:solidFill>
                <a:latin typeface="Noto Sans CJK KR"/>
                <a:ea typeface="Noto Sans CJK KR"/>
              </a:rPr>
              <a:t>장면 생존 테스트 (Scene Value Test)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08975" y="5157216"/>
            <a:ext cx="3584448" cy="102412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F2EFE9"/>
                </a:solidFill>
                <a:latin typeface="Noto Sans CJK KR"/>
                <a:ea typeface="Noto Sans CJK KR"/>
              </a:rPr>
              <a:t>• 장면의 시작과 끝 사이에 인물의 상황·감정의 부호(+/-)가 바뀌었는가?
• 플롯을 전진시키거나 인물의 핵심 본성을 드러내는가?
→ 둘 다 아니라면 아무리 문장이 아름다워도 과감히 삭제하라.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06  |  POINT OF VIEW (POV) &amp; NARRATIVE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누구의 눈으로 어디까지 보여줄 것인가: 시점(POV)이 소설의 몰입도를 결정한다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각 시점의 정보 통제 범위와 심리적 거리를 이해하고, 한 장면 안에서는 단일 시점을 엄격히 유지하라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26464"/>
            <a:ext cx="1874519" cy="420624"/>
          </a:xfrm>
          <a:prstGeom prst="rect">
            <a:avLst/>
          </a:prstGeom>
          <a:solidFill>
            <a:srgbClr val="1A212E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63040"/>
            <a:ext cx="1728216" cy="347472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시점 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1426464"/>
            <a:ext cx="2514600" cy="420624"/>
          </a:xfrm>
          <a:prstGeom prst="rect">
            <a:avLst/>
          </a:prstGeom>
          <a:solidFill>
            <a:srgbClr val="1A212E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463040"/>
            <a:ext cx="2368296" cy="347472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정보 통제와 서술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1426464"/>
            <a:ext cx="2331720" cy="420624"/>
          </a:xfrm>
          <a:prstGeom prst="rect">
            <a:avLst/>
          </a:prstGeom>
          <a:solidFill>
            <a:srgbClr val="1A212E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1" y="1463040"/>
            <a:ext cx="2185415" cy="347472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서사적 강점 (Pros)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199" y="1426464"/>
            <a:ext cx="2240280" cy="420624"/>
          </a:xfrm>
          <a:prstGeom prst="rect">
            <a:avLst/>
          </a:prstGeom>
          <a:solidFill>
            <a:srgbClr val="1A212E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1" y="1463040"/>
            <a:ext cx="2093976" cy="347472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주의할 함정 (Cons)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1426464"/>
            <a:ext cx="2039112" cy="420624"/>
          </a:xfrm>
          <a:prstGeom prst="rect">
            <a:avLst/>
          </a:prstGeom>
          <a:solidFill>
            <a:srgbClr val="1A212E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463040"/>
            <a:ext cx="1892807" cy="347472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적합한 장르 및 대표 효과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847088"/>
            <a:ext cx="1874519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920240"/>
            <a:ext cx="16916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212E"/>
                </a:solidFill>
                <a:latin typeface="Noto Sans CJK KR"/>
                <a:ea typeface="Noto Sans CJK KR"/>
              </a:rPr>
              <a:t>1인칭 주인공 시점
(‘나’의 서술)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1847088"/>
            <a:ext cx="251460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920240"/>
            <a:ext cx="233172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오직 ‘나’가 보고 듣고 추측한 정보만 서술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79" y="1847088"/>
            <a:ext cx="23317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19" y="1920240"/>
            <a:ext cx="21488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독자와 주인공의 즉각적 밀착
• 화자의 독특한 목소리·유머 극대화
• ‘신뢰할 수 없는 화자’ 트릭에 유리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199" y="1847088"/>
            <a:ext cx="224028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920240"/>
            <a:ext cx="205740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주인공이 없는 현장의 사건 서술 불가
• 지나친 자기연민이나 독백 과잉 위험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1847088"/>
            <a:ext cx="203911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19" y="1920240"/>
            <a:ext cx="1856231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청춘 성장소설, 느와르,
심리 미스터리, 고백록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2816352"/>
            <a:ext cx="1874519" cy="969264"/>
          </a:xfrm>
          <a:prstGeom prst="rect">
            <a:avLst/>
          </a:prstGeom>
          <a:solidFill>
            <a:srgbClr val="FAECE6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889504"/>
            <a:ext cx="16916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3인칭 제한 시점
(현대 소설의 표준)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2816352"/>
            <a:ext cx="2514600" cy="969264"/>
          </a:xfrm>
          <a:prstGeom prst="rect">
            <a:avLst/>
          </a:prstGeom>
          <a:solidFill>
            <a:srgbClr val="FAECE6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889504"/>
            <a:ext cx="233172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초점화된 특정 인물(‘그/그녀’)의 내면과 시선에만 밀착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79" y="2816352"/>
            <a:ext cx="2331720" cy="969264"/>
          </a:xfrm>
          <a:prstGeom prst="rect">
            <a:avLst/>
          </a:prstGeom>
          <a:solidFill>
            <a:srgbClr val="FAECE6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19" y="2889504"/>
            <a:ext cx="21488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1인칭의 깊은 정서적 몰입감과 3인칭의 객관적 묘사력을 동시에 확보
• 서사적 거리를 유연하게 줌인/줌아웃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199" y="2816352"/>
            <a:ext cx="2240280" cy="969264"/>
          </a:xfrm>
          <a:prstGeom prst="rect">
            <a:avLst/>
          </a:prstGeom>
          <a:solidFill>
            <a:srgbClr val="FAECE6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889504"/>
            <a:ext cx="205740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초점 인물이 눈치채지 못한 자신의 표정·모습을 직접 묘사하는 실수 주의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2816352"/>
            <a:ext cx="2039112" cy="969264"/>
          </a:xfrm>
          <a:prstGeom prst="rect">
            <a:avLst/>
          </a:prstGeom>
          <a:solidFill>
            <a:srgbClr val="FAECE6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19" y="2889504"/>
            <a:ext cx="1856231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현대 문학 전반, 장르소설,
장편 드라마의 가장 안정적 선택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785616"/>
            <a:ext cx="1874519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3858768"/>
            <a:ext cx="16916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212E"/>
                </a:solidFill>
                <a:latin typeface="Noto Sans CJK KR"/>
                <a:ea typeface="Noto Sans CJK KR"/>
              </a:rPr>
              <a:t>3인칭 전지적 시점
(신적 조망)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79" y="3785616"/>
            <a:ext cx="251460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3858768"/>
            <a:ext cx="233172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모든 인물의 내면, 과거·미래, 보이지 않는 사건까지 통찰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79" y="3785616"/>
            <a:ext cx="23317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19" y="3858768"/>
            <a:ext cx="21488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방대한 세계관과 시대상을 조망
• 인물 간의 오해와 극적 아이러니를 독자에게 입체적으로 제시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199" y="3785616"/>
            <a:ext cx="224028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3858768"/>
            <a:ext cx="205740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한 장면에서 여러 인물의 속마음을 오가면(Head-hopping) 긴장감 급감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3785616"/>
            <a:ext cx="203911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19" y="3858768"/>
            <a:ext cx="1856231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대하 역사소설, 가족 사가(Saga),
우화적·철학적 서사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4754880"/>
            <a:ext cx="1874519" cy="969264"/>
          </a:xfrm>
          <a:prstGeom prst="rect">
            <a:avLst/>
          </a:prstGeom>
          <a:solidFill>
            <a:srgbClr val="EEE9E0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4828032"/>
            <a:ext cx="16916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212E"/>
                </a:solidFill>
                <a:latin typeface="Noto Sans CJK KR"/>
                <a:ea typeface="Noto Sans CJK KR"/>
              </a:rPr>
              <a:t>다중 교차 시점
(챕터별 3인칭/1인칭)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8879" y="4754880"/>
            <a:ext cx="2514600" cy="969264"/>
          </a:xfrm>
          <a:prstGeom prst="rect">
            <a:avLst/>
          </a:prstGeom>
          <a:solidFill>
            <a:srgbClr val="EEE9E0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4828032"/>
            <a:ext cx="233172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챕터나 절(Section) 단위로 시점 인물을 교대하며 서술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79" y="4754880"/>
            <a:ext cx="2331720" cy="969264"/>
          </a:xfrm>
          <a:prstGeom prst="rect">
            <a:avLst/>
          </a:prstGeom>
          <a:solidFill>
            <a:srgbClr val="EEE9E0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19" y="4828032"/>
            <a:ext cx="2148839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주인공과 적대자 양측의 정당성 부여
• 시점 교차 절단신공(Cliffhanger)으로 페이지 터너 효과 극대화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199" y="4754880"/>
            <a:ext cx="2240280" cy="969264"/>
          </a:xfrm>
          <a:prstGeom prst="rect">
            <a:avLst/>
          </a:prstGeom>
          <a:solidFill>
            <a:srgbClr val="EEE9E0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4828032"/>
            <a:ext cx="2057400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• 시점 인물 간 목소리가 비슷하면 독자가 화자를 혼동
• 서사 밀도가 낮은 시점 챕터가 지루해짐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4754880"/>
            <a:ext cx="2039112" cy="969264"/>
          </a:xfrm>
          <a:prstGeom prst="rect">
            <a:avLst/>
          </a:prstGeom>
          <a:solidFill>
            <a:srgbClr val="EEE9E0"/>
          </a:solidFill>
          <a:ln w="1016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19" y="4828032"/>
            <a:ext cx="1856231" cy="822960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990" b="0" i="0">
                <a:solidFill>
                  <a:srgbClr val="555E6C"/>
                </a:solidFill>
                <a:latin typeface="Noto Sans CJK KR"/>
                <a:ea typeface="Noto Sans CJK KR"/>
              </a:rPr>
              <a:t>군상극, 범죄 스릴러,
거대 판타지, 로맨스(쌍방 시점)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5833872"/>
            <a:ext cx="11000232" cy="475488"/>
          </a:xfrm>
          <a:prstGeom prst="roundRect">
            <a:avLst>
              <a:gd name="adj" fmla="val 6000"/>
            </a:avLst>
          </a:prstGeom>
          <a:solidFill>
            <a:srgbClr val="FBF4E4"/>
          </a:solidFill>
          <a:ln w="15240">
            <a:solidFill>
              <a:srgbClr val="D19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833872"/>
            <a:ext cx="10607040" cy="475488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1A212E"/>
                </a:solidFill>
                <a:latin typeface="Noto Sans CJK KR"/>
                <a:ea typeface="Noto Sans CJK KR"/>
              </a:rPr>
              <a:t>초보 작가의 대표적 실수 ‘시점 널뛰기(Head-Hopping)’ 금지:  한 장면 안에서는 카메라를 한 인물의 어깨 위에만 고정하고, 타인의 속마음은 표정·행동으로만 추론하게 하라.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07  |  STYLE &amp; DESCRIPTION CLINIC (SHOW, DON'T TELL)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감정을 단어로 요약(Tell)하지 말고, 오감과 행동의 디테일로 독자가 직접 느끼게 하라(Show)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추상적인 감정어(슬펐다, 화났다, 불안했다)를 지우고 그 감정이 만들어내는 신체 반응과 사물의 이미지로 치환한다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08176"/>
            <a:ext cx="4069080" cy="1005840"/>
          </a:xfrm>
          <a:prstGeom prst="roundRect">
            <a:avLst>
              <a:gd name="adj" fmla="val 4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481328"/>
            <a:ext cx="3749039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878E99"/>
                </a:solidFill>
                <a:latin typeface="Noto Sans CJK KR"/>
                <a:ea typeface="Noto Sans CJK KR"/>
              </a:rPr>
              <a:t>CASE 01  |  감정과 심리 묘사  —  [요약 설명: Tell]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3749039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“지은은 면접 결과를 기다리며 너무나 불안하고 초조해서 견딜 수가 없었다.”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00784"/>
            <a:ext cx="347472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408176"/>
            <a:ext cx="65471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316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47488" y="1408176"/>
            <a:ext cx="82296" cy="1005840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1481328"/>
            <a:ext cx="347472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16B69"/>
                </a:solidFill>
                <a:latin typeface="Noto Sans CJK KR"/>
                <a:ea typeface="Noto Sans CJK KR"/>
              </a:rPr>
              <a:t>[신체 반응과 사물의 디테일로 치환 (Show)]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81328"/>
            <a:ext cx="2633472" cy="219456"/>
          </a:xfrm>
          <a:prstGeom prst="roundRect">
            <a:avLst>
              <a:gd name="adj" fmla="val 20000"/>
            </a:avLst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481328"/>
            <a:ext cx="263347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316B69"/>
                </a:solidFill>
                <a:latin typeface="Noto Sans CJK KR"/>
                <a:ea typeface="Noto Sans CJK KR"/>
              </a:rPr>
              <a:t>✓ 시각·촉각 행동으로 불안감 체감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1755648"/>
            <a:ext cx="6217920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1" i="0">
                <a:solidFill>
                  <a:srgbClr val="1A212E"/>
                </a:solidFill>
                <a:latin typeface="Noto Sans CJK KR"/>
                <a:ea typeface="Noto Sans CJK KR"/>
              </a:rPr>
              <a:t>“지은은 식어버린 머그잔 손잡이를 만지작거리다, 기어이 무릎 위에 올려둔 냅킨 모서리를 손톱 끝으로 잘게 찢어놓았다.”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523744"/>
            <a:ext cx="4069080" cy="1005840"/>
          </a:xfrm>
          <a:prstGeom prst="roundRect">
            <a:avLst>
              <a:gd name="adj" fmla="val 4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596896"/>
            <a:ext cx="3749039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878E99"/>
                </a:solidFill>
                <a:latin typeface="Noto Sans CJK KR"/>
                <a:ea typeface="Noto Sans CJK KR"/>
              </a:rPr>
              <a:t>CASE 02  |  인물의 성격 제시  —  [요약 설명: Tell]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871215"/>
            <a:ext cx="3749039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“민수는 피도 눈물도 없이 냉정하고 계산적인 성격의 소유자였다.”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816351"/>
            <a:ext cx="347472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488" y="2523744"/>
            <a:ext cx="65471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316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7488" y="2523744"/>
            <a:ext cx="82296" cy="1005840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2596896"/>
            <a:ext cx="347472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16B69"/>
                </a:solidFill>
                <a:latin typeface="Noto Sans CJK KR"/>
                <a:ea typeface="Noto Sans CJK KR"/>
              </a:rPr>
              <a:t>[결정적 순간의 행동과 시선 처리 (Show)]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596896"/>
            <a:ext cx="2633472" cy="219456"/>
          </a:xfrm>
          <a:prstGeom prst="roundRect">
            <a:avLst>
              <a:gd name="adj" fmla="val 20000"/>
            </a:avLst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596896"/>
            <a:ext cx="263347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316B69"/>
                </a:solidFill>
                <a:latin typeface="Noto Sans CJK KR"/>
                <a:ea typeface="Noto Sans CJK KR"/>
              </a:rPr>
              <a:t>✓ 시계 확인 + 명함 한 장으로 냉담함 증명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871215"/>
            <a:ext cx="6217920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1" i="0">
                <a:solidFill>
                  <a:srgbClr val="1A212E"/>
                </a:solidFill>
                <a:latin typeface="Noto Sans CJK KR"/>
                <a:ea typeface="Noto Sans CJK KR"/>
              </a:rPr>
              <a:t>“민수는 오열하는 동생의 어깨 너머로 벽시계의 분침을 먼저 확인한 뒤, 지갑에서 명함 한 장만 꺼내 식탁 끝에 소리 없이 내려놓았다.”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639312"/>
            <a:ext cx="4069080" cy="1005840"/>
          </a:xfrm>
          <a:prstGeom prst="roundRect">
            <a:avLst>
              <a:gd name="adj" fmla="val 4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712463"/>
            <a:ext cx="3749039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878E99"/>
                </a:solidFill>
                <a:latin typeface="Noto Sans CJK KR"/>
                <a:ea typeface="Noto Sans CJK KR"/>
              </a:rPr>
              <a:t>CASE 03  |  공간과 분위기 구축  —  [요약 설명: Tell]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86784"/>
            <a:ext cx="3749039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555E6C"/>
                </a:solidFill>
                <a:latin typeface="Noto Sans CJK KR"/>
                <a:ea typeface="Noto Sans CJK KR"/>
              </a:rPr>
              <a:t>“그곳은 오랫동안 사람이 살지 않아 무척 음산하고 불길한 폐가였다.”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931920"/>
            <a:ext cx="347472" cy="402336"/>
          </a:xfrm>
          <a:prstGeom prst="rect">
            <a:avLst/>
          </a:prstGeom>
          <a:noFill/>
        </p:spPr>
        <p:txBody>
          <a:bodyPr wrap="square" anchor="t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C6532D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7488" y="3639312"/>
            <a:ext cx="65471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316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7488" y="3639312"/>
            <a:ext cx="82296" cy="1005840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712463"/>
            <a:ext cx="347472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16B69"/>
                </a:solidFill>
                <a:latin typeface="Noto Sans CJK KR"/>
                <a:ea typeface="Noto Sans CJK KR"/>
              </a:rPr>
              <a:t>[청각·후각·촉각의 다중 감각 결합 (Show)]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712463"/>
            <a:ext cx="2633472" cy="219456"/>
          </a:xfrm>
          <a:prstGeom prst="roundRect">
            <a:avLst>
              <a:gd name="adj" fmla="val 20000"/>
            </a:avLst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3712463"/>
            <a:ext cx="2633472" cy="21945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316B69"/>
                </a:solidFill>
                <a:latin typeface="Noto Sans CJK KR"/>
                <a:ea typeface="Noto Sans CJK KR"/>
              </a:rPr>
              <a:t>✓ 후각(곰팡이) + 청각(벽지 소리) 입체화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3986784"/>
            <a:ext cx="6217920" cy="58521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1" i="0">
                <a:solidFill>
                  <a:srgbClr val="1A212E"/>
                </a:solidFill>
                <a:latin typeface="Noto Sans CJK KR"/>
                <a:ea typeface="Noto Sans CJK KR"/>
              </a:rPr>
              <a:t>“문지방을 넘자 젖은 곰팡이 냄새가 훅 끼쳤고, 깨진 유리창 틈으로 스며든 바람에 들뜬 벽지가 뱀 허물처럼 바스락거렸다.”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828032"/>
            <a:ext cx="11000232" cy="146304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919472"/>
            <a:ext cx="105156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D19830"/>
                </a:solidFill>
                <a:latin typeface="Noto Sans CJK KR"/>
                <a:ea typeface="Noto Sans CJK KR"/>
              </a:rPr>
              <a:t>살아 숨 쉬는 대사(Dialogue)를 쓰는 3가지 실전 원칙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" y="5230368"/>
            <a:ext cx="3401568" cy="932688"/>
          </a:xfrm>
          <a:prstGeom prst="roundRect">
            <a:avLst>
              <a:gd name="adj" fmla="val 5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303520"/>
            <a:ext cx="3145536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01. 정보 브리핑 대사 금지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559552"/>
            <a:ext cx="3145536" cy="54864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B2BAC6"/>
                </a:solidFill>
                <a:latin typeface="Noto Sans CJK KR"/>
                <a:ea typeface="Noto Sans CJK KR"/>
              </a:rPr>
              <a:t>독자에게 배경설정을 알려주려고 인물끼리 이미 아는 사실을 말하게 하지 마라. 대사는 정보 전달이 아니라 ‘심리전’이다.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5230368"/>
            <a:ext cx="3401568" cy="932688"/>
          </a:xfrm>
          <a:prstGeom prst="roundRect">
            <a:avLst>
              <a:gd name="adj" fmla="val 5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7136" y="5303520"/>
            <a:ext cx="3145536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02. 서브텍스트(행간) 활용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5559552"/>
            <a:ext cx="3145536" cy="54864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B2BAC6"/>
                </a:solidFill>
                <a:latin typeface="Noto Sans CJK KR"/>
                <a:ea typeface="Noto Sans CJK KR"/>
              </a:rPr>
              <a:t>인물이 속마음을 정직하게 다 말하면 긴장이 사라진다. 정작 하고 싶은 말은 숨기고 엉뚱한 화제로 감정을 우회시켜라.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73568" y="5230368"/>
            <a:ext cx="3401568" cy="932688"/>
          </a:xfrm>
          <a:prstGeom prst="roundRect">
            <a:avLst>
              <a:gd name="adj" fmla="val 5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01584" y="5303520"/>
            <a:ext cx="3145536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>
                <a:solidFill>
                  <a:srgbClr val="F2EFE9"/>
                </a:solidFill>
                <a:latin typeface="Noto Sans CJK KR"/>
                <a:ea typeface="Noto Sans CJK KR"/>
              </a:rPr>
              <a:t>03. 지문과 행동 비트 결합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1584" y="5559552"/>
            <a:ext cx="3145536" cy="54864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B2BAC6"/>
                </a:solidFill>
                <a:latin typeface="Noto Sans CJK KR"/>
                <a:ea typeface="Noto Sans CJK KR"/>
              </a:rPr>
              <a:t>“~라고 슬프게 말했다” 같은 부사형 전달동사를 줄이고, 대사 사이사이에 시선 회피나 침묵 같은 행동 비트(Action Beat)를 넣어라.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6532D"/>
                </a:solidFill>
                <a:latin typeface="Noto Sans CJK KR"/>
                <a:ea typeface="Noto Sans CJK KR"/>
              </a:rPr>
              <a:t>08  |  DRAFTING &amp; 3-PASS REVISION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1A212E"/>
                </a:solidFill>
                <a:latin typeface="Noto Sans CJK KR"/>
                <a:ea typeface="Noto Sans CJK KR"/>
              </a:rPr>
              <a:t>초고는 뜨거운 가슴으로 거침없이 쓰고, 퇴고는 차가운 머리로 3단계에 걸쳐 조각한다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E6C"/>
                </a:solidFill>
                <a:latin typeface="Noto Sans CJK KR"/>
                <a:ea typeface="Noto Sans CJK KR"/>
              </a:rPr>
              <a:t>완벽주의 때문에 첫 장만 무한히 고치는 함정에서 벗어나, 구조·장면·문장의 순서로 해상도를 높여가며 다듬는다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A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C6532D"/>
                </a:solidFill>
                <a:latin typeface="Noto Sans CJK KR"/>
                <a:ea typeface="Noto Sans CJK KR"/>
              </a:rPr>
              <a:t>09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26464"/>
            <a:ext cx="4160520" cy="4864608"/>
          </a:xfrm>
          <a:prstGeom prst="roundRect">
            <a:avLst>
              <a:gd name="adj" fmla="val 3000"/>
            </a:avLst>
          </a:prstGeom>
          <a:solidFill>
            <a:srgbClr val="EEE9E0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54480"/>
            <a:ext cx="3749039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C6532D"/>
                </a:solidFill>
                <a:latin typeface="Noto Sans CJK KR"/>
                <a:ea typeface="Noto Sans CJK KR"/>
              </a:rPr>
              <a:t>초고 완주의 제1원칙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3749039" cy="105156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A212E"/>
                </a:solidFill>
                <a:latin typeface="Noto Sans CJK KR"/>
                <a:ea typeface="Noto Sans CJK KR"/>
              </a:rPr>
              <a:t>“초고를 쓸 때는 내면의 편집자를 방문 밖에 가두어라.”
백지 위에서는 그 어떤 퇴고도 불가능하다. 문장이 거칠고 설정에 구멍이 나더라도 일단 결말의 마침표까지 달려가 전체 윤곽을 확보하는 것이 최우선이다.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127248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218688"/>
            <a:ext cx="347472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212E"/>
                </a:solidFill>
                <a:latin typeface="Noto Sans CJK KR"/>
                <a:ea typeface="Noto Sans CJK KR"/>
              </a:rPr>
              <a:t>소설 완성 에너지 배분 비율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3566160"/>
            <a:ext cx="691286" cy="384048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66160"/>
            <a:ext cx="691286" cy="384048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</a:rPr>
              <a:t>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2262" y="3566160"/>
            <a:ext cx="1036929" cy="384048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2262" y="3566160"/>
            <a:ext cx="1036929" cy="384048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9191" y="3566160"/>
            <a:ext cx="1728216" cy="384048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9191" y="3566160"/>
            <a:ext cx="1728216" cy="384048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</a:rPr>
              <a:t>50% (퇴고)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041648"/>
            <a:ext cx="3474720" cy="5029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555E6C"/>
                </a:solidFill>
                <a:latin typeface="Noto Sans CJK KR"/>
                <a:ea typeface="Noto Sans CJK KR"/>
              </a:rPr>
              <a:t>• 기획·구조 설계 (20%)  • 초고 집필 (30%)
• 3단계 퇴고 및 윤문 (50%) — 진짜 소설은 퇴고에서 태어난다.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791456"/>
            <a:ext cx="3749039" cy="1316736"/>
          </a:xfrm>
          <a:prstGeom prst="roundRect">
            <a:avLst>
              <a:gd name="adj" fmla="val 5000"/>
            </a:avLst>
          </a:prstGeom>
          <a:solidFill>
            <a:srgbClr val="1A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882896"/>
            <a:ext cx="341985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D19830"/>
                </a:solidFill>
                <a:latin typeface="Noto Sans CJK KR"/>
                <a:ea typeface="Noto Sans CJK KR"/>
              </a:rPr>
              <a:t>필수 과정: 원고 숙성기 (Cooling Off)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175504"/>
            <a:ext cx="3419856" cy="82296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2BAC6"/>
                </a:solidFill>
                <a:latin typeface="Noto Sans CJK KR"/>
                <a:ea typeface="Noto Sans CJK KR"/>
              </a:rPr>
              <a:t>초고 완성 직후에는 머릿속 설정과 실제 문장을 구별하지 못한다. 최소 며칠~2주간 원고를 서랍에 넣어두었다가 ‘낯선 독자의 눈’으로 다시 읽어라.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6048" y="1426464"/>
            <a:ext cx="663854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56048" y="1426464"/>
            <a:ext cx="91440" cy="153619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93792" y="1572768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1572768"/>
            <a:ext cx="960120" cy="31089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</a:rPr>
              <a:t>PASS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1554480"/>
            <a:ext cx="5120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A212E"/>
                </a:solidFill>
                <a:latin typeface="Noto Sans CJK KR"/>
                <a:ea typeface="Noto Sans CJK KR"/>
              </a:rPr>
              <a:t>1차 구조 퇴고 (Macro / Structural Edit)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1810512"/>
            <a:ext cx="51206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C6532D"/>
                </a:solidFill>
                <a:latin typeface="Noto Sans CJK KR"/>
                <a:ea typeface="Noto Sans CJK KR"/>
              </a:rPr>
              <a:t>나무가 아닌 숲을 보며 서사의 뼈대와 인과관계를 재조립하는 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2084832"/>
            <a:ext cx="6217920" cy="8046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6000"/>
              </a:lnSpc>
            </a:pPr>
            <a:r>
              <a:rPr sz="1030" b="0" i="0">
                <a:solidFill>
                  <a:srgbClr val="555E6C"/>
                </a:solidFill>
                <a:latin typeface="Noto Sans CJK KR"/>
                <a:ea typeface="Noto Sans CJK KR"/>
              </a:rPr>
              <a:t>✓ 주인공의 욕망과 행동이 시작부터 클라이맥스까지 일관되게 이어지는가?
✓ 중반부가 늘어지지 않는가? (기능이 겹치는 장면과 인물을 과감히 통합·삭제)
✓ 복선이 회수되었으며, 결말이 우연이 아닌 주인공의 선택으로 해결되는가?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6048" y="3090672"/>
            <a:ext cx="663854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56048" y="3090672"/>
            <a:ext cx="91440" cy="1536192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93792" y="3236976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93792" y="3236976"/>
            <a:ext cx="960120" cy="31089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</a:rPr>
              <a:t>PASS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3218688"/>
            <a:ext cx="5120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A212E"/>
                </a:solidFill>
                <a:latin typeface="Noto Sans CJK KR"/>
                <a:ea typeface="Noto Sans CJK KR"/>
              </a:rPr>
              <a:t>2차 장면·리듬 퇴고 (Scene &amp; Pacing Edit)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3474720"/>
            <a:ext cx="51206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316B69"/>
                </a:solidFill>
                <a:latin typeface="Noto Sans CJK KR"/>
                <a:ea typeface="Noto Sans CJK KR"/>
              </a:rPr>
              <a:t>각 장면의 밀도와 대화의 텐션, 시점의 일관성을 조율하는 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3749039"/>
            <a:ext cx="6217920" cy="8046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6000"/>
              </a:lnSpc>
            </a:pPr>
            <a:r>
              <a:rPr sz="1030" b="0" i="0">
                <a:solidFill>
                  <a:srgbClr val="555E6C"/>
                </a:solidFill>
                <a:latin typeface="Noto Sans CJK KR"/>
                <a:ea typeface="Noto Sans CJK KR"/>
              </a:rPr>
              <a:t>✓ 각 장면의 첫 문장이 흥미롭고 마지막 문장이 다음 장면을 궁금하게 만드는가?
✓ 한 장면 안에서 시점(POV)이 흔들리거나 설명(Tell)이 과도한 구간은 없는가?
✓ 긴박한 장면에서는 단문으로 속도를 높이고, 정서적 장면에서는 호흡을 늦추었는가?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6048" y="4754880"/>
            <a:ext cx="663854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6048" y="4754880"/>
            <a:ext cx="91440" cy="1536192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93792" y="4901184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93792" y="4901184"/>
            <a:ext cx="960120" cy="31089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</a:rPr>
              <a:t>PASS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4882896"/>
            <a:ext cx="512064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A212E"/>
                </a:solidFill>
                <a:latin typeface="Noto Sans CJK KR"/>
                <a:ea typeface="Noto Sans CJK KR"/>
              </a:rPr>
              <a:t>3차 문장·윤문 퇴고 (Line Edit &amp; Proofreading)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5138928"/>
            <a:ext cx="51206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D19830"/>
                </a:solidFill>
                <a:latin typeface="Noto Sans CJK KR"/>
                <a:ea typeface="Noto Sans CJK KR"/>
              </a:rPr>
              <a:t>소리 내어 읽으며 군더더기 수식어를 덜어내고 문장의 음악성을 다듬는 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3792" y="5413248"/>
            <a:ext cx="6217920" cy="80467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6000"/>
              </a:lnSpc>
            </a:pPr>
            <a:r>
              <a:rPr sz="1030" b="0" i="0">
                <a:solidFill>
                  <a:srgbClr val="555E6C"/>
                </a:solidFill>
                <a:latin typeface="Noto Sans CJK KR"/>
                <a:ea typeface="Noto Sans CJK KR"/>
              </a:rPr>
              <a:t>✓ 상투적 부사(‘매우, 정말, 문득, 갑자기’)와 번역투(‘~에 다름 아니다, ~로부터’) 제거
✓ 한 문장에 중복된 주어(‘그는 ~ 그의 ~’)와 불필요한 피동형(‘~되어졌다’) 교정
✓ 육성으로 낭독(Read Aloud)했을 때 숨이 차거나 어색하게 걸리는 대사 수정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73152" cy="713232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D19830"/>
                </a:solidFill>
                <a:latin typeface="Noto Sans CJK KR"/>
                <a:ea typeface="Noto Sans CJK KR"/>
              </a:rPr>
              <a:t>09  |  THE WRITER'S HABIT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48640"/>
            <a:ext cx="10789920" cy="402336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2150" b="1" i="0">
                <a:solidFill>
                  <a:srgbClr val="F2EFE9"/>
                </a:solidFill>
                <a:latin typeface="Noto Sans CJK KR"/>
                <a:ea typeface="Noto Sans CJK KR"/>
              </a:rPr>
              <a:t>완벽한 첫 문장을 기다리지 말고, 지금 당장 첫 장면을 시작하라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23544"/>
            <a:ext cx="10789920" cy="292608"/>
          </a:xfrm>
          <a:prstGeom prst="rect">
            <a:avLst/>
          </a:prstGeom>
          <a:noFill/>
        </p:spPr>
        <p:txBody>
          <a:bodyPr wrap="square" anchor="t" lIns="18288" rIns="18288" tIns="12801" bIns="12801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2BAC6"/>
                </a:solidFill>
                <a:latin typeface="Noto Sans CJK KR"/>
                <a:ea typeface="Noto Sans CJK KR"/>
              </a:rPr>
              <a:t>재능보다 강력한 것은 매일 책상 앞에 앉는 루틴과 끝까지 마침표를 찍어본 완주의 근육이다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3716"/>
          </a:xfrm>
          <a:prstGeom prst="rect">
            <a:avLst/>
          </a:prstGeom>
          <a:solidFill>
            <a:srgbClr val="3E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3E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78E99"/>
                </a:solidFill>
                <a:latin typeface="Noto Sans CJK KR"/>
                <a:ea typeface="Noto Sans CJK KR"/>
              </a:rPr>
              <a:t>THE CRAFT OF FICTION WRITING  |  소설 창작 실전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D19830"/>
                </a:solidFill>
                <a:latin typeface="Noto Sans CJK KR"/>
                <a:ea typeface="Noto Sans CJK KR"/>
              </a:rPr>
              <a:t>10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3502152" cy="3794760"/>
          </a:xfrm>
          <a:prstGeom prst="roundRect">
            <a:avLst>
              <a:gd name="adj" fmla="val 4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81328"/>
            <a:ext cx="3502152" cy="73152"/>
          </a:xfrm>
          <a:prstGeom prst="rect">
            <a:avLst/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664208"/>
            <a:ext cx="31089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C6532D"/>
                </a:solidFill>
                <a:latin typeface="Noto Sans CJK KR"/>
                <a:ea typeface="Noto Sans CJK KR"/>
              </a:rPr>
              <a:t>HABIT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20240"/>
            <a:ext cx="31089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영감이 아닌 ‘분량 루틴’으로 써라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2340864"/>
            <a:ext cx="3099816" cy="512064"/>
          </a:xfrm>
          <a:prstGeom prst="roundRect">
            <a:avLst>
              <a:gd name="adj" fmla="val 8000"/>
            </a:avLst>
          </a:prstGeom>
          <a:solidFill>
            <a:srgbClr val="1A212E"/>
          </a:solidFill>
          <a:ln w="10160">
            <a:solidFill>
              <a:srgbClr val="C6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359152"/>
            <a:ext cx="2916936" cy="475488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D19830"/>
                </a:solidFill>
                <a:latin typeface="Noto Sans CJK KR"/>
                <a:ea typeface="Noto Sans CJK KR"/>
              </a:rPr>
              <a:t>“영감은 기다리는 자가 아니라 쓰고 있는 자에게 찾아온다.”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3099816" cy="21031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 i="0">
                <a:solidFill>
                  <a:srgbClr val="B2BAC6"/>
                </a:solidFill>
                <a:latin typeface="Noto Sans CJK KR"/>
                <a:ea typeface="Noto Sans CJK KR"/>
              </a:rPr>
              <a:t>• 매일 같은 시간, 같은 장소에서 정해진 분량(예: 하루 1,000자~2,000자 또는 45분)을 채우는 시스템 구축
• 다음 날 글쓰기가 막막하지 않도록, 오늘 가장 잘 써지는 장면의 문장 중간에서 멈추는 ‘헤밍웨이 기법’ 활용
• 하루 1,500자씩 60일이면 단편 3편 또는 경장편 1권 분량(원고지 450매)이 완성된다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81328"/>
            <a:ext cx="3502152" cy="3794760"/>
          </a:xfrm>
          <a:prstGeom prst="roundRect">
            <a:avLst>
              <a:gd name="adj" fmla="val 4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481328"/>
            <a:ext cx="3502152" cy="73152"/>
          </a:xfrm>
          <a:prstGeom prst="rect">
            <a:avLst/>
          </a:prstGeom>
          <a:solidFill>
            <a:srgbClr val="D1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664208"/>
            <a:ext cx="31089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D19830"/>
                </a:solidFill>
                <a:latin typeface="Noto Sans CJK KR"/>
                <a:ea typeface="Noto Sans CJK KR"/>
              </a:rPr>
              <a:t>HABIT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920240"/>
            <a:ext cx="31089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일상을 채집하는 ‘작가의 수집함’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2340864"/>
            <a:ext cx="3099816" cy="512064"/>
          </a:xfrm>
          <a:prstGeom prst="roundRect">
            <a:avLst>
              <a:gd name="adj" fmla="val 8000"/>
            </a:avLst>
          </a:prstGeom>
          <a:solidFill>
            <a:srgbClr val="1A212E"/>
          </a:solidFill>
          <a:ln w="10160">
            <a:solidFill>
              <a:srgbClr val="D19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2359152"/>
            <a:ext cx="2916936" cy="475488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EFE9"/>
                </a:solidFill>
                <a:latin typeface="Noto Sans CJK KR"/>
                <a:ea typeface="Noto Sans CJK KR"/>
              </a:rPr>
              <a:t>“독창적인 디테일은 책상 위 공상이 아니라 날것의 관찰에서 나온다.”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999232"/>
            <a:ext cx="3099816" cy="21031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 i="0">
                <a:solidFill>
                  <a:srgbClr val="B2BAC6"/>
                </a:solidFill>
                <a:latin typeface="Noto Sans CJK KR"/>
                <a:ea typeface="Noto Sans CJK KR"/>
              </a:rPr>
              <a:t>• 지하철에서 들은 기묘한 대화 한 줄, 독특한 직업군의 은어, 계절별 빛과 냄새를 메모장에 즉시 기록
• 마음에 드는 소설을 읽을 때는 독자로서 한 번, 작가로서 ‘어떻게 이 감정을 설계했는가’ 분석하며 한 번 더 필사·해부
• 막힐 때마다 꺼내 쓸 수 있는 나만의 ‘인물·장면·어휘 창고’를 상시 비축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481328"/>
            <a:ext cx="3502152" cy="3794760"/>
          </a:xfrm>
          <a:prstGeom prst="roundRect">
            <a:avLst>
              <a:gd name="adj" fmla="val 4000"/>
            </a:avLst>
          </a:prstGeom>
          <a:solidFill>
            <a:srgbClr val="262F40"/>
          </a:solidFill>
          <a:ln w="12700">
            <a:solidFill>
              <a:srgbClr val="3E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81328"/>
            <a:ext cx="3502152" cy="73152"/>
          </a:xfrm>
          <a:prstGeom prst="rect">
            <a:avLst/>
          </a:prstGeom>
          <a:solidFill>
            <a:srgbClr val="31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1664208"/>
            <a:ext cx="310896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316B69"/>
                </a:solidFill>
                <a:latin typeface="Noto Sans CJK KR"/>
                <a:ea typeface="Noto Sans CJK KR"/>
              </a:rPr>
              <a:t>HABIT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1920240"/>
            <a:ext cx="3108960" cy="329184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2EFE9"/>
                </a:solidFill>
                <a:latin typeface="Noto Sans CJK KR"/>
                <a:ea typeface="Noto Sans CJK KR"/>
              </a:rPr>
              <a:t>미완성 대작보다 ‘완성된 단편 한 편’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2340864"/>
            <a:ext cx="3099816" cy="512064"/>
          </a:xfrm>
          <a:prstGeom prst="roundRect">
            <a:avLst>
              <a:gd name="adj" fmla="val 8000"/>
            </a:avLst>
          </a:prstGeom>
          <a:solidFill>
            <a:srgbClr val="1A212E"/>
          </a:solidFill>
          <a:ln w="10160">
            <a:solidFill>
              <a:srgbClr val="316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2359152"/>
            <a:ext cx="2916936" cy="475488"/>
          </a:xfrm>
          <a:prstGeom prst="rect">
            <a:avLst/>
          </a:prstGeom>
          <a:noFill/>
        </p:spPr>
        <p:txBody>
          <a:bodyPr wrap="square" anchor="ctr" lIns="9144" rIns="9144" tIns="6400" bIns="6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D19830"/>
                </a:solidFill>
                <a:latin typeface="Noto Sans CJK KR"/>
                <a:ea typeface="Noto Sans CJK KR"/>
              </a:rPr>
              <a:t>“결말까지 도달해 본 경험만이 작가를 다음 단계로 성장시킨다.”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999232"/>
            <a:ext cx="3099816" cy="2103120"/>
          </a:xfrm>
          <a:prstGeom prst="rect">
            <a:avLst/>
          </a:prstGeom>
          <a:noFill/>
        </p:spPr>
        <p:txBody>
          <a:bodyPr wrap="square" anchor="t" lIns="9144" rIns="9144" tIns="6400" bIns="6400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 i="0">
                <a:solidFill>
                  <a:srgbClr val="B2BAC6"/>
                </a:solidFill>
                <a:latin typeface="Noto Sans CJK KR"/>
                <a:ea typeface="Noto Sans CJK KR"/>
              </a:rPr>
              <a:t>• 처음부터 거대한 10권짜리 세계관에 매몰되기보다, 원고지 70~100매 분량의 단편으로 기승전결 완주 훈련
• 첫 초고가 마음에 들지 않는 것은 당신의 재능이 부족해서가 아니라 안목이 높기 때문임을 기억
• 오늘 당장 주인공의 이름과 그가 처한 첫 번째 작은 위기 한 줄을 적는 것으로 시작하라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486400"/>
            <a:ext cx="11000232" cy="786384"/>
          </a:xfrm>
          <a:prstGeom prst="roundRect">
            <a:avLst>
              <a:gd name="adj" fmla="val 6000"/>
            </a:avLst>
          </a:prstGeom>
          <a:solidFill>
            <a:srgbClr val="C6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22976"/>
            <a:ext cx="10634472" cy="402336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2EFE9"/>
                </a:solidFill>
                <a:latin typeface="Noto Sans CJK KR"/>
                <a:ea typeface="Noto Sans CJK KR"/>
              </a:rPr>
              <a:t>“최악의 초고라도 백지보다는 언제나 위대하다. 백지는 고칠 수 없지만, 쓰인 문장은 반드시 빛나게 다듬을 수 있다.”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07024"/>
            <a:ext cx="10634472" cy="292608"/>
          </a:xfrm>
          <a:prstGeom prst="rect">
            <a:avLst/>
          </a:prstGeom>
          <a:noFill/>
        </p:spPr>
        <p:txBody>
          <a:bodyPr wrap="square" anchor="ctr" lIns="54864" rIns="54864" tIns="38404" bIns="38404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BF4E4"/>
                </a:solidFill>
                <a:latin typeface="Noto Sans CJK KR"/>
                <a:ea typeface="Noto Sans CJK KR"/>
              </a:rPr>
              <a:t>오늘 당신의 첫 번째 문장을 시작하세요  —  Happy Writing!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