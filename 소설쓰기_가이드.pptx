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48993"/>
            <a:ext cx="5669280" cy="920767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매혹적인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26910"/>
            <a:ext cx="5669280" cy="920767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18000"/>
              </a:lnSpc>
            </a:pPr>
            <a:r>
              <a:rPr sz="3750" b="1" i="0">
                <a:solidFill>
                  <a:srgbClr val="F2EFE9"/>
                </a:solidFill>
                <a:latin typeface="Malgun Gothic"/>
                <a:ea typeface="Malgun Gothic"/>
              </a:rPr>
              <a:t>소설 쓰기의 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51919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720169"/>
            <a:ext cx="5486400" cy="39037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아이디어의 첫 불꽃부터 마지막 문장의 퇴고까지,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1115"/>
            <a:ext cx="5486400" cy="390372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B2BAC6"/>
                </a:solidFill>
                <a:latin typeface="Malgun Gothic"/>
                <a:ea typeface="Malgun Gothic"/>
              </a:rPr>
              <a:t>독자의 밤을 빼앗는 서사 설계의 10가지 핵심 원칙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발상과 캐릭터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로그라인 · 욕망과 결핍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플롯과 갈등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3막 구조 · 씬의 역학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시점과 문체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POV · Show, Don't Tell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PART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퇴고와 완성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Malgun Gothic"/>
                <a:ea typeface="Malgun Gothic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Malgun Gothic"/>
                <a:ea typeface="Malgun Gothic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89073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익숙한 일상 속 낯선 균열을 포착해 독자의 질문을 유도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2475077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단순한 설정 나열이 아닌 주인공이 겪을 윤리적·현실적 딜레마 내포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2761081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한 문장의 로그라인으로 압축될 때 서사의 방향성이 흔들리지 않음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독자가 첫 페이지를 펼칠 이유는 무엇인가?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입체적 인물 (Character)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Malgun Gothic"/>
                <a:ea typeface="Malgun Gothic"/>
              </a:rPr>
              <a:t>욕망(Want)과 결핍(Need)이 충돌하는 살아있는 주체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2189073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완벽한 영웅보다 결함과 모순을 지닌 인물에게 독자가 감정이입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2475077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외면적 목표를 추구하는 과정에서 내면의 거짓 믿음이 깨지는 성장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2761081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주인공의 약점을 정확히 파고드는 대립자(Antagonist)와의 상호작용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 인물은 무엇을 간절히 원하며 무엇을 잃을까 두려워하는가?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인과적 플롯 (Plot &amp; Conflict)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Malgun Gothic"/>
                <a:ea typeface="Malgun Gothic"/>
              </a:rPr>
              <a:t>'그리고'가 아닌 '그래서/그러나'로 연결된 사건의 사슬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" y="4401921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우연에 기댄 해결(데우스 엑스 마키나)을 배제하고 인물의 선택으로 전개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687925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점진적으로 판돈(Stakes)을 높여 주인공을 퇴로 없는 막다른 골목으로 압박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4973929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3막 구조의 5대 전환점을 통해 긴장과 이완의 서사적 리듬을 설계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이전 사건이 다음 사건을 필연적으로 강제하는가?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감각적 장면과 문체 (Scene &amp; Voice)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Malgun Gothic"/>
                <a:ea typeface="Malgun Gothic"/>
              </a:rPr>
              <a:t>요약 설명(Tell)을 넘어 현장을 체험하게 하는 묘사(Show)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7376" y="4401921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오감의 디테일과 구체적 행동으로 인물의 감정선을 시각화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7376" y="4687925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인물의 성격과 관계의 권력 구도가 묻어나는 입체적인 대사 설계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4973929"/>
            <a:ext cx="4983480" cy="271068"/>
          </a:xfrm>
          <a:prstGeom prst="rect">
            <a:avLst/>
          </a:prstGeom>
          <a:noFill/>
        </p:spPr>
        <p:txBody>
          <a:bodyPr wrap="square" anchor="t" lIns="18288" rIns="18288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• 불필요한 수식어를 덜어내고 장면의 속도에 맞춘 문장 호흡 조율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Malgun Gothic"/>
                <a:ea typeface="Malgun Gothic"/>
              </a:rPr>
              <a:t>핵심 질문: 독자의 머릿속에 이 장면이 영화처럼 그려지는가?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Malgun Gothic"/>
                <a:ea typeface="Malgun Gothic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Malgun Gothic"/>
                <a:ea typeface="Malgun Gothic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Malgun Gothic"/>
                <a:ea typeface="Malgun Gothic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Malgun Gothic"/>
                <a:ea typeface="Malgun Gothic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Malgun Gothic"/>
                <a:ea typeface="Malgun Gothic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Malgun Gothic"/>
                <a:ea typeface="Malgun Gothic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10" b="1" i="0">
                <a:solidFill>
                  <a:srgbClr val="1A212E"/>
                </a:solidFill>
                <a:latin typeface="Malgun Gothic"/>
                <a:ea typeface="Malgun Gothic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910" b="0" i="0">
                <a:solidFill>
                  <a:srgbClr val="555E6C"/>
                </a:solidFill>
                <a:latin typeface="Malgun Gothic"/>
                <a:ea typeface="Malgun Gothic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Malgun Gothic"/>
                <a:ea typeface="Malgun Gothic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Malgun Gothic"/>
                <a:ea typeface="Malgun Gothic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Malgun Gothic"/>
                <a:ea typeface="Malgun Gothic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Malgun Gothic"/>
                <a:ea typeface="Malgun Gothic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Malgun Gothic"/>
                <a:ea typeface="Malgun Gothic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Malgun Gothic"/>
                <a:ea typeface="Malgun Gothic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Malgun Gothic"/>
                <a:ea typeface="Malgun Gothic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Malgun Gothic"/>
                <a:ea typeface="Malgun Gothic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Malgun Gothic"/>
                <a:ea typeface="Malgun Gothic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Malgun Gothic"/>
                <a:ea typeface="Malgun Gothic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Malgun Gothic"/>
                <a:ea typeface="Malgun Gothic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63616"/>
            <a:ext cx="3584448" cy="32796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장면의 시작과 끝 사이에 인물의 상황·감정의 부호(+/-)가 바뀌었는가?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08975" y="5505297"/>
            <a:ext cx="3584448" cy="32796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• 플롯을 전진시키거나 인물의 핵심 본성을 드러내는가?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08975" y="5846978"/>
            <a:ext cx="3584448" cy="32796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F2EFE9"/>
                </a:solidFill>
                <a:latin typeface="Malgun Gothic"/>
                <a:ea typeface="Malgun Gothic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Malgun Gothic"/>
                <a:ea typeface="Malgun Gothic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6640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1인칭 주인공 시점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339721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(‘나’의 서술)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오직 ‘나’가 보고 듣고 추측한 정보만 서술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19" y="1926640"/>
            <a:ext cx="2148839" cy="2599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독자와 주인공의 즉각적 밀착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19" y="2201722"/>
            <a:ext cx="2148839" cy="2599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화자의 독특한 목소리·유머 극대화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19" y="2476804"/>
            <a:ext cx="2148839" cy="2599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‘신뢰할 수 없는 화자’ 트릭에 유리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1926640"/>
            <a:ext cx="2057400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주인공이 없는 현장의 사건 서술 불가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2339263"/>
            <a:ext cx="2057400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지나친 자기연민이나 독백 과잉 위험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46919" y="1926640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청춘 성장소설, 느와르,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19" y="2339263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심리 미스터리, 고백록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895904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3인칭 제한 시점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08985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Malgun Gothic"/>
                <a:ea typeface="Malgun Gothic"/>
              </a:rPr>
              <a:t>(현대 소설의 표준)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초점화된 특정 인물(‘그/그녀’)의 내면과 시선에만 밀착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19" y="2895904"/>
            <a:ext cx="2148839" cy="53401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1인칭의 깊은 정서적 몰입감과 3인칭의 객관적 묘사력을 동시에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19" y="3445011"/>
            <a:ext cx="2148839" cy="261051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서사적 거리를 유연하게 줌인/줌아웃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19" y="2895904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현대 문학 전반, 장르소설,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46919" y="3308527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장편 드라마의 가장 안정적 선택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865168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3인칭 전지적 시점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278249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(신적 조망)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모든 인물의 내면, 과거·미래, 보이지 않는 사건까지 통찰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74919" y="3865168"/>
            <a:ext cx="2148839" cy="261051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방대한 세계관과 시대상을 조망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74919" y="4141308"/>
            <a:ext cx="2148839" cy="53401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인물 간의 오해와 극적 아이러니를 독자에게 입체적으로 제시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한 장면에서 여러 인물의 속마음을 오가면(Head-hopping) 긴장감 급감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3865168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대하 역사소설, 가족 사가(Saga),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19" y="4277791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우화적·철학적 서사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4834432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다중 교차 시점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5247513"/>
            <a:ext cx="1691639" cy="39707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(챕터별 3인칭/1인칭)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챕터나 절(Section) 단위로 시점 인물을 교대하며 서술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74919" y="4834432"/>
            <a:ext cx="2148839" cy="261051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주인공과 적대자 양측의 정당성 부여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74919" y="5110572"/>
            <a:ext cx="2148839" cy="53401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• 시점 교차 절단신공(Cliffhanger)으로 페이지 터너 효과 극대화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4834432"/>
            <a:ext cx="2057400" cy="5209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시점 인물 간 목소리가 비슷하면 독자가 화자를 혼동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5368991"/>
            <a:ext cx="2057400" cy="275600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Malgun Gothic"/>
                <a:ea typeface="Malgun Gothic"/>
              </a:rPr>
              <a:t>• 서사 밀도가 낮은 시점 챕터가 지루해짐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46919" y="4834432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군상극, 범죄 스릴러,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919" y="5247055"/>
            <a:ext cx="1856231" cy="397535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Malgun Gothic"/>
                <a:ea typeface="Malgun Gothic"/>
              </a:rPr>
              <a:t>거대 판타지, 로맨스(쌍방 시점)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Malgun Gothic"/>
                <a:ea typeface="Malgun Gothic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Malgun Gothic"/>
                <a:ea typeface="Malgun Gothic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Malgun Gothic"/>
                <a:ea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Malgun Gothic"/>
                <a:ea typeface="Malgun Gothic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Malgun Gothic"/>
                <a:ea typeface="Malgun Gothic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Malgun Gothic"/>
                <a:ea typeface="Malgun Gothic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Malgun Gothic"/>
                <a:ea typeface="Malgun Gothic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Malgun Gothic"/>
                <a:ea typeface="Malgun Gothic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Malgun Gothic"/>
                <a:ea typeface="Malgun Gothic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Malgun Gothic"/>
                <a:ea typeface="Malgun Gothic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Malgun Gothic"/>
                <a:ea typeface="Malgun Gothic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Malgun Gothic"/>
                <a:ea typeface="Malgun Gothic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8352"/>
            <a:ext cx="3749039" cy="247611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“초고를 쓸 때는 내면의 편집자를 방문 밖에 가두어라.”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169680"/>
            <a:ext cx="3749039" cy="247611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31007"/>
            <a:ext cx="3749039" cy="516103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900" b="0" i="0">
                <a:solidFill>
                  <a:srgbClr val="1A212E"/>
                </a:solidFill>
                <a:latin typeface="Malgun Gothic"/>
                <a:ea typeface="Malgun Gothic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Malgun Gothic"/>
                <a:ea typeface="Malgun Gothic"/>
              </a:rPr>
              <a:t>소설 완성 에너지 배분 비율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Malgun Gothic"/>
                <a:ea typeface="Malgun Gothic"/>
              </a:rPr>
              <a:t>50% (퇴고)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048048"/>
            <a:ext cx="3474720" cy="238353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기획·구조 설계 (20%)  • 초고 집필 (30%)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299813"/>
            <a:ext cx="3474720" cy="238353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555E6C"/>
                </a:solidFill>
                <a:latin typeface="Malgun Gothic"/>
                <a:ea typeface="Malgun Gothic"/>
              </a:rPr>
              <a:t>• 3단계 퇴고 및 윤문 (50%) — 진짜 소설은 퇴고에서 태어난다.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Malgun Gothic"/>
                <a:ea typeface="Malgun Gothic"/>
              </a:rPr>
              <a:t>필수 과정: 원고 숙성기 (Cooling Off)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Malgun Gothic"/>
                <a:ea typeface="Malgun Gothic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1차 구조 퇴고 (Macro / Structural Edit)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Malgun Gothic"/>
                <a:ea typeface="Malgun Gothic"/>
              </a:rPr>
              <a:t>나무가 아닌 숲을 보며 서사의 뼈대와 인과관계를 재조립하는 단계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3792" y="2091232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주인공의 욕망과 행동이 시작부터 클라이맥스까지 일관되게 이어지는가?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3792" y="2359914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중반부가 늘어지지 않는가? (기능이 겹치는 장면과 인물을 과감히 통합·삭제)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2628595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2차 장면·리듬 퇴고 (Scene &amp; Pacing Edit)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Malgun Gothic"/>
                <a:ea typeface="Malgun Gothic"/>
              </a:rPr>
              <a:t>각 장면의 밀도와 대화의 텐션, 시점의 일관성을 조율하는 단계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2" y="3755440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각 장면의 첫 문장이 흥미롭고 마지막 문장이 다음 장면을 궁금하게 만드는가?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4024121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장면 안에서 시점(POV)이 흔들리거나 설명(Tell)이 과도한 구간은 없는가?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4292803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Malgun Gothic"/>
              </a:rPr>
              <a:t>PASS 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Malgun Gothic"/>
                <a:ea typeface="Malgun Gothic"/>
              </a:rPr>
              <a:t>3차 문장·윤문 퇴고 (Line Edit &amp; Proofreading)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Malgun Gothic"/>
                <a:ea typeface="Malgun Gothic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93792" y="5419648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상투적 부사(‘매우, 정말, 문득, 갑자기’)와 번역투(‘~에 다름 아니다, ~로부터’) 제거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3792" y="5688330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한 문장에 중복된 주어(‘그는 ~ 그의 ~’)와 불필요한 피동형(‘~되어졌다’) 교정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93792" y="5957011"/>
            <a:ext cx="6217920" cy="2545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26000"/>
              </a:lnSpc>
            </a:pPr>
            <a:r>
              <a:rPr sz="930" b="0" i="0">
                <a:solidFill>
                  <a:srgbClr val="555E6C"/>
                </a:solidFill>
                <a:latin typeface="Malgun Gothic"/>
                <a:ea typeface="Malgun Gothic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Malgun Gothic"/>
                <a:ea typeface="Malgun Gothic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Malgun Gothic"/>
                <a:ea typeface="Malgun Gothic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Malgun Gothic"/>
                <a:ea typeface="Malgun Gothic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Malgun Gothic"/>
                <a:ea typeface="Malgun Gothic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Malgun Gothic"/>
                <a:ea typeface="Malgun Gothic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Malgun Gothic"/>
                <a:ea typeface="Malgun Gothic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005632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매일 같은 시간, 같은 장소에서 정해진 분량(예: 하루 1,000자~2,000자 또는 45분)을 채우는 시스템 구축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707638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다음 날 글쓰기가 막막하지 않도록, 오늘 가장 잘 써지는 장면의 문장 중간에서 멈추는 ‘헤밍웨이 기법’ 활용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409643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Malgun Gothic"/>
                <a:ea typeface="Malgun Gothic"/>
              </a:rPr>
              <a:t>HABIT 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일상을 채집하는 ‘작가의 수집함’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F2EFE9"/>
                </a:solidFill>
                <a:latin typeface="Malgun Gothic"/>
                <a:ea typeface="Malgun Gothic"/>
              </a:rPr>
              <a:t>“독창적인 디테일은 책상 위 공상이 아니라 날것의 관찰에서 나온다.”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3005632"/>
            <a:ext cx="3099816" cy="5931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지하철에서 들은 기묘한 대화 한 줄, 독특한 직업군의 은어, 계절별 빛과 냄새를 메모장에 즉시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3614524"/>
            <a:ext cx="3099816" cy="87253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마음에 드는 소설을 읽을 때는 독자로서 한 번, 작가로서 ‘어떻게 이 감정을 설계했는가’ 분석하며 한 번 더 필사·해부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502756"/>
            <a:ext cx="3099816" cy="593194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Malgun Gothic"/>
                <a:ea typeface="Malgun Gothic"/>
              </a:rPr>
              <a:t>HABIT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Malgun Gothic"/>
                <a:ea typeface="Malgun Gothic"/>
              </a:rPr>
              <a:t>미완성 대작보다 ‘완성된 단편 한 편’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19830"/>
                </a:solidFill>
                <a:latin typeface="Malgun Gothic"/>
                <a:ea typeface="Malgun Gothic"/>
              </a:rPr>
              <a:t>“결말까지 도달해 본 경험만이 작가를 다음 단계로 성장시킨다.”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3005632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처음부터 거대한 10권짜리 세계관에 매몰되기보다, 원고지 70~100매 분량의 단편으로 기승전결 완주 훈련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3707638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첫 초고가 마음에 들지 않는 것은 당신의 재능이 부족해서가 아니라 안목이 높기 때문임을 기억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409643"/>
            <a:ext cx="3099816" cy="686308"/>
          </a:xfrm>
          <a:prstGeom prst="rect">
            <a:avLst/>
          </a:prstGeom>
          <a:noFill/>
        </p:spPr>
        <p:txBody>
          <a:bodyPr wrap="square" anchor="t" lIns="9144" rIns="9144" tIns="0" bIns="0">
            <a:no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Malgun Gothic"/>
                <a:ea typeface="Malgun Gothic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Malgun Gothic"/>
                <a:ea typeface="Malgun Gothic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no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Malgun Gothic"/>
                <a:ea typeface="Malgun Gothic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